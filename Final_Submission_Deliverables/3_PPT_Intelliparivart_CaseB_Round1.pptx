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Team Intelliparivart presents DataMoat: the AI-powered intelligence platform that transforms the messy operational exhaust of India's coaching institutes into predictive insights and a profitable SaaS business. The data is already in India's coaching centers; DataMoat provides the intelligence to act on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exposes the core problem: coaching institutes are not short on data—they generate OMR sheets, Excels, biometric logs, and WhatsApp chats every single week. But because these live in four disconnected silos, institutes suffer from delayed topic diagnosis and silent dropouts, bleeding over 17 lakh rupees annually per center.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deconstructs why existing tools fail. Disconnected data creates blind spots. Traditional BI only shows lagging charts of failure after it happens. And administrative paralysis causes staff to reject complex ERPs. DataMoat solves this trilemma by sitting directly on existing habits.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shows DataMoat as one connected intelligence layer. Nextute currently provides operations scheduling; DataMoat elevates the platform into an intelligence core that predicts, personalizes, and proves results. We don't replace their workflow—we make it intelligent.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traces a concrete human story: Candidate #481. On Sunday, phone OMR captures a 28% drop in Organic Chemistry. On Tuesday, LightGBM flags 82% risk. On Wednesday, the teacher 1-click assigns a remedial worksheet and WhatsApps parents in Hindi. By Day 21, the student rebounds +18%, saving the enrollment and protecting student well-being.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is our genuine product showcase. The interface is clean, dark-mode, and built for speed. On the left, coordinators see batch-level health and the prioritized triage roster. Clicking Candidate #481 opens the right diagnostic drawer with TreeSHAP root causes, BKT mastery, and 1-click remedial action triggers.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addresses our AI/ML methodology. We do NOT use LLMs to predict dropouts because LLMs hallucinate numbers and lack calibration. We use 2PL IRT and calibrated LightGBM for prediction, and TreeSHAP for exact attribution. Generative AI is deployed strictly as an empathetic explanation layer behind a de-identification boundary.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shows our system architecture on a single slide. We chose a high-performance modular monolith in FastAPI and PostgreSQL with kernel-level Row-Level Security. Notice our cost: exactly ₹4.80 per student per month, well inside the official benchmark.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explains our defensibility without overclaiming. We don't claim an established data moat on Day 1. Instead, we explain how the moat compounds: ingestion switching barriers, cross-institute IRT item banks, longitudinal trajectory benchmarks, and closed-loop intervention tuning.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business model. We package as an annual plan to eliminate post-exam seasonality. Look at the owner ROI: preventing 20% of dropouts saves ₹3.45L against a ₹1.92L platform cost (1.8x ROI). Retaining just 5.3 students pays for the software for the entire year.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demonstrates our financial viability. At ₹40 per student, we generate ₹11,580 monthly contribution margin per institute, delivering a 3.8-month payback and a 16.5x LTV/CAC ratio. Break-even occurs in Month 9 at 18 institutes, and Year 2 generates ₹42.8L positive EBITDA.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outlines our go-to-market. In Phase 1, we focus on concentrated coaching hubs like Patna and Kota. Our 30-Day Risk Audit entry wedge converts directors by demonstrating dropouts on their own past data. In Phase 2 and 3, we expand via director referrals and local OMR distributor channels.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DataMoat transforms coaching institutes from reactive survival to proactive student success. The data is already in India's coaching hubs; DataMoat builds the intelligence layer that turns it into an unbeatable competitive advantage. Thank you from Team Intelliparivart.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fulfills Rule 2 mandatory AI tool disclosure and cites our academic and regulatory foundations: Lord for IRT, Corbett for BKT, Lundberg for TreeSHAP, and the official 2023 DPDP Act and 2024 MoE Guidelines.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868680"/>
            <a:ext cx="7680960" cy="347472"/>
          </a:xfrm>
          <a:prstGeom prst="roundRect">
            <a:avLst/>
          </a:prstGeom>
          <a:solidFill>
            <a:srgbClr val="182235"/>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896112"/>
            <a:ext cx="7680960" cy="292608"/>
          </a:xfrm>
          <a:prstGeom prst="rect">
            <a:avLst/>
          </a:prstGeom>
          <a:noFill/>
        </p:spPr>
        <p:txBody>
          <a:bodyPr wrap="none">
            <a:spAutoFit/>
          </a:bodyPr>
          <a:lstStyle/>
          <a:p>
            <a:pPr>
              <a:spcAft>
                <a:spcPts val="0"/>
              </a:spcAft>
            </a:pPr>
            <a:r>
              <a:rPr sz="950" b="1" i="0">
                <a:solidFill>
                  <a:srgbClr val="818CF8"/>
                </a:solidFill>
                <a:latin typeface="Arial"/>
              </a:rPr>
              <a:t>NEXTUTE EDTECH x FINANCE CLUB, IIT PATNA  |  CASE B: THE DATA MOAT</a:t>
            </a:r>
          </a:p>
        </p:txBody>
      </p:sp>
      <p:sp>
        <p:nvSpPr>
          <p:cNvPr id="5" name="Rectangle 4"/>
          <p:cNvSpPr/>
          <p:nvPr/>
        </p:nvSpPr>
        <p:spPr>
          <a:xfrm>
            <a:off x="731520" y="868680"/>
            <a:ext cx="109728" cy="30175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353312"/>
            <a:ext cx="10241280" cy="2514600"/>
          </a:xfrm>
          <a:prstGeom prst="rect">
            <a:avLst/>
          </a:prstGeom>
          <a:noFill/>
        </p:spPr>
        <p:txBody>
          <a:bodyPr wrap="square">
            <a:spAutoFit/>
          </a:bodyPr>
          <a:lstStyle/>
          <a:p>
            <a:pPr>
              <a:spcAft>
                <a:spcPts val="0"/>
              </a:spcAft>
            </a:pPr>
            <a:r>
              <a:rPr sz="5400" b="1" i="0">
                <a:solidFill>
                  <a:srgbClr val="FFFFFF"/>
                </a:solidFill>
                <a:latin typeface="Arial"/>
              </a:rPr>
              <a:t>DataMoat</a:t>
            </a:r>
          </a:p>
          <a:p>
            <a:pPr>
              <a:spcAft>
                <a:spcPts val="600"/>
              </a:spcAft>
            </a:pPr>
            <a:r>
              <a:rPr sz="1900" b="1" i="0">
                <a:solidFill>
                  <a:srgbClr val="38BDF8"/>
                </a:solidFill>
                <a:latin typeface="Arial"/>
              </a:rPr>
              <a:t>AI-Powered Intelligence Platform for India's Coaching Institutes</a:t>
            </a:r>
          </a:p>
          <a:p>
            <a:pPr>
              <a:spcAft>
                <a:spcPts val="1000"/>
              </a:spcAft>
            </a:pPr>
            <a:r>
              <a:rPr sz="1250" b="0" i="1">
                <a:solidFill>
                  <a:srgbClr val="E2E8F0"/>
                </a:solidFill>
                <a:latin typeface="Arial"/>
              </a:rPr>
              <a:t>"Turning the messy learning exhaust of India's coaching hubs into topic-level mastery, dropout prevention, and a profitable SaaS business."</a:t>
            </a:r>
          </a:p>
          <a:p>
            <a:pPr>
              <a:spcAft>
                <a:spcPts val="0"/>
              </a:spcAft>
            </a:pPr>
            <a:r>
              <a:rPr sz="900" b="1" i="0">
                <a:solidFill>
                  <a:srgbClr val="06B6D4"/>
                </a:solidFill>
                <a:latin typeface="Arial"/>
              </a:rPr>
              <a:t>SUBMISSION BY: TEAM INTELLIPARIVART  |  EVALUATION RUBRIC: 70% TECHNOLOGY &amp; ARCHITECTURE · 30% EDTECH MARKET &amp; GTM</a:t>
            </a:r>
          </a:p>
        </p:txBody>
      </p:sp>
      <p:sp>
        <p:nvSpPr>
          <p:cNvPr id="7" name="Rounded Rectangle 6"/>
          <p:cNvSpPr/>
          <p:nvPr/>
        </p:nvSpPr>
        <p:spPr>
          <a:xfrm>
            <a:off x="1097280" y="4069080"/>
            <a:ext cx="3291840" cy="16916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4069080"/>
            <a:ext cx="329184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4206240"/>
            <a:ext cx="2926080" cy="1417320"/>
          </a:xfrm>
          <a:prstGeom prst="rect">
            <a:avLst/>
          </a:prstGeom>
          <a:noFill/>
        </p:spPr>
        <p:txBody>
          <a:bodyPr wrap="square">
            <a:spAutoFit/>
          </a:bodyPr>
          <a:lstStyle/>
          <a:p>
            <a:pPr>
              <a:spcAft>
                <a:spcPts val="400"/>
              </a:spcAft>
            </a:pPr>
            <a:r>
              <a:rPr sz="1100" b="1" i="0">
                <a:solidFill>
                  <a:srgbClr val="06B6D4"/>
                </a:solidFill>
                <a:latin typeface="Arial"/>
              </a:rPr>
              <a:t>ZERO ERP MIGRATION</a:t>
            </a:r>
          </a:p>
          <a:p>
            <a:pPr>
              <a:spcAft>
                <a:spcPts val="0"/>
              </a:spcAft>
            </a:pPr>
            <a:r>
              <a:rPr sz="950" b="0" i="0">
                <a:solidFill>
                  <a:srgbClr val="E2E8F0"/>
                </a:solidFill>
                <a:latin typeface="Arial"/>
              </a:rPr>
              <a:t>Phone-camera OMR scanning + WhatsApp bot + offline sync. Zero workflow disruption for staff.</a:t>
            </a:r>
          </a:p>
        </p:txBody>
      </p:sp>
      <p:sp>
        <p:nvSpPr>
          <p:cNvPr id="10" name="Rounded Rectangle 9"/>
          <p:cNvSpPr/>
          <p:nvPr/>
        </p:nvSpPr>
        <p:spPr>
          <a:xfrm>
            <a:off x="4572000" y="4069080"/>
            <a:ext cx="3291840" cy="16916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0" y="4069080"/>
            <a:ext cx="3291840" cy="54864"/>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4206240"/>
            <a:ext cx="2926080" cy="1417320"/>
          </a:xfrm>
          <a:prstGeom prst="rect">
            <a:avLst/>
          </a:prstGeom>
          <a:noFill/>
        </p:spPr>
        <p:txBody>
          <a:bodyPr wrap="square">
            <a:spAutoFit/>
          </a:bodyPr>
          <a:lstStyle/>
          <a:p>
            <a:pPr>
              <a:spcAft>
                <a:spcPts val="400"/>
              </a:spcAft>
            </a:pPr>
            <a:r>
              <a:rPr sz="1100" b="1" i="0">
                <a:solidFill>
                  <a:srgbClr val="818CF8"/>
                </a:solidFill>
                <a:latin typeface="Arial"/>
              </a:rPr>
              <a:t>PSYCHOMETRIC &amp; ML RIGOR</a:t>
            </a:r>
          </a:p>
          <a:p>
            <a:pPr>
              <a:spcAft>
                <a:spcPts val="0"/>
              </a:spcAft>
            </a:pPr>
            <a:r>
              <a:rPr sz="950" b="0" i="0">
                <a:solidFill>
                  <a:srgbClr val="E2E8F0"/>
                </a:solidFill>
                <a:latin typeface="Arial"/>
              </a:rPr>
              <a:t>2PL Item Response Theory (IRT) + BKT topic mastery + calibrated percentile ranges [P10, P90].</a:t>
            </a:r>
          </a:p>
        </p:txBody>
      </p:sp>
      <p:sp>
        <p:nvSpPr>
          <p:cNvPr id="13" name="Rounded Rectangle 12"/>
          <p:cNvSpPr/>
          <p:nvPr/>
        </p:nvSpPr>
        <p:spPr>
          <a:xfrm>
            <a:off x="8046719" y="4069080"/>
            <a:ext cx="3291840" cy="16916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46719" y="4069080"/>
            <a:ext cx="32918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9" y="4206240"/>
            <a:ext cx="2926080" cy="1417320"/>
          </a:xfrm>
          <a:prstGeom prst="rect">
            <a:avLst/>
          </a:prstGeom>
          <a:noFill/>
        </p:spPr>
        <p:txBody>
          <a:bodyPr wrap="square">
            <a:spAutoFit/>
          </a:bodyPr>
          <a:lstStyle/>
          <a:p>
            <a:pPr>
              <a:spcAft>
                <a:spcPts val="400"/>
              </a:spcAft>
            </a:pPr>
            <a:r>
              <a:rPr sz="1100" b="1" i="0">
                <a:solidFill>
                  <a:srgbClr val="10B981"/>
                </a:solidFill>
                <a:latin typeface="Arial"/>
              </a:rPr>
              <a:t>HIGH-MARGIN SAAS</a:t>
            </a:r>
          </a:p>
          <a:p>
            <a:pPr>
              <a:spcAft>
                <a:spcPts val="0"/>
              </a:spcAft>
            </a:pPr>
            <a:r>
              <a:rPr sz="950" b="0" i="0">
                <a:solidFill>
                  <a:srgbClr val="E2E8F0"/>
                </a:solidFill>
                <a:latin typeface="Arial"/>
              </a:rPr>
              <a:t>₹4.80/student/month infrastructure cost delivers 72%+ contribution margin and 16.5x LTV/CAC.</a:t>
            </a:r>
          </a:p>
        </p:txBody>
      </p:sp>
      <p:sp>
        <p:nvSpPr>
          <p:cNvPr id="16" name="TextBox 15"/>
          <p:cNvSpPr txBox="1"/>
          <p:nvPr/>
        </p:nvSpPr>
        <p:spPr>
          <a:xfrm>
            <a:off x="1097280" y="6080760"/>
            <a:ext cx="10058400" cy="320040"/>
          </a:xfrm>
          <a:prstGeom prst="rect">
            <a:avLst/>
          </a:prstGeom>
          <a:noFill/>
        </p:spPr>
        <p:txBody>
          <a:bodyPr wrap="none">
            <a:spAutoFit/>
          </a:bodyPr>
          <a:lstStyle/>
          <a:p>
            <a:pPr>
              <a:spcAft>
                <a:spcPts val="0"/>
              </a:spcAft>
            </a:pPr>
            <a:r>
              <a:rPr sz="900" b="1" i="0">
                <a:solidFill>
                  <a:srgbClr val="64748B"/>
                </a:solidFill>
                <a:latin typeface="Arial"/>
              </a:rPr>
              <a:t>CONFIDENTIAL SUBMISSION FOR IIT PATNA CASE COMPETITION 2026 · ALL MODELS BENCHMARKED ON SECTION 08 SCHEMA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lIns="0" rIns="0" tIns="0" bIns="0">
            <a:spAutoFit/>
          </a:bodyPr>
          <a:lstStyle/>
          <a:p>
            <a:pPr>
              <a:spcAft>
                <a:spcPts val="0"/>
              </a:spcAft>
            </a:pPr>
            <a:r>
              <a:rPr sz="950" b="1" i="0">
                <a:solidFill>
                  <a:srgbClr val="06B6D4"/>
                </a:solidFill>
                <a:latin typeface="Arial"/>
              </a:rPr>
              <a:t>THE HIDDEN PROBLEM · GROUND REALITY IN PATNA, KOTA &amp; LUCKNOW</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spcAft>
                <a:spcPts val="0"/>
              </a:spcAft>
            </a:pPr>
            <a:r>
              <a:rPr sz="2100" b="1" i="0">
                <a:solidFill>
                  <a:srgbClr val="FFFFFF"/>
                </a:solidFill>
                <a:latin typeface="Arial"/>
              </a:rPr>
              <a:t>Coaching Institutes Are Data Rich, But Intelligence Poor</a:t>
            </a:r>
          </a:p>
        </p:txBody>
      </p:sp>
      <p:sp>
        <p:nvSpPr>
          <p:cNvPr id="5" name="TextBox 4"/>
          <p:cNvSpPr txBox="1"/>
          <p:nvPr/>
        </p:nvSpPr>
        <p:spPr>
          <a:xfrm>
            <a:off x="731520" y="1115568"/>
            <a:ext cx="10698480" cy="320040"/>
          </a:xfrm>
          <a:prstGeom prst="rect">
            <a:avLst/>
          </a:prstGeom>
          <a:noFill/>
        </p:spPr>
        <p:txBody>
          <a:bodyPr wrap="square" lIns="0" rIns="0" tIns="0" bIns="0">
            <a:spAutoFit/>
          </a:bodyPr>
          <a:lstStyle/>
          <a:p>
            <a:pPr>
              <a:spcAft>
                <a:spcPts val="0"/>
              </a:spcAft>
            </a:pPr>
            <a:r>
              <a:rPr sz="1150" b="0" i="0">
                <a:solidFill>
                  <a:srgbClr val="94A3B8"/>
                </a:solidFill>
                <a:latin typeface="Arial"/>
              </a:rPr>
              <a:t>High-stakes exam prep centers generate massive learning exhaust, but it lives in four offline silos.</a:t>
            </a:r>
          </a:p>
        </p:txBody>
      </p:sp>
      <p:sp>
        <p:nvSpPr>
          <p:cNvPr id="6" name="Rounded Rectangle 5"/>
          <p:cNvSpPr/>
          <p:nvPr/>
        </p:nvSpPr>
        <p:spPr>
          <a:xfrm>
            <a:off x="731520" y="1645920"/>
            <a:ext cx="6217920" cy="10058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73152" cy="10058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55648"/>
            <a:ext cx="5852160" cy="777240"/>
          </a:xfrm>
          <a:prstGeom prst="rect">
            <a:avLst/>
          </a:prstGeom>
          <a:noFill/>
        </p:spPr>
        <p:txBody>
          <a:bodyPr wrap="square">
            <a:spAutoFit/>
          </a:bodyPr>
          <a:lstStyle/>
          <a:p>
            <a:pPr>
              <a:spcAft>
                <a:spcPts val="300"/>
              </a:spcAft>
            </a:pPr>
            <a:r>
              <a:rPr sz="1150" b="1" i="0">
                <a:solidFill>
                  <a:srgbClr val="06B6D4"/>
                </a:solidFill>
                <a:latin typeface="Arial"/>
              </a:rPr>
              <a:t>Paper OMR Bubble Sheets</a:t>
            </a:r>
          </a:p>
          <a:p>
            <a:pPr>
              <a:spcAft>
                <a:spcPts val="0"/>
              </a:spcAft>
            </a:pPr>
            <a:r>
              <a:rPr sz="950" b="0" i="0">
                <a:solidFill>
                  <a:srgbClr val="E2E8F0"/>
                </a:solidFill>
                <a:latin typeface="Arial"/>
              </a:rPr>
              <a:t>Weekly mock test responses bubble-filled on paper. Scanned days late or hand-graded; topic-level error data is permanently lost.</a:t>
            </a:r>
          </a:p>
        </p:txBody>
      </p:sp>
      <p:sp>
        <p:nvSpPr>
          <p:cNvPr id="9" name="Rounded Rectangle 8"/>
          <p:cNvSpPr/>
          <p:nvPr/>
        </p:nvSpPr>
        <p:spPr>
          <a:xfrm>
            <a:off x="731520" y="2788920"/>
            <a:ext cx="6217920" cy="10058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788920"/>
            <a:ext cx="73152" cy="100584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898648"/>
            <a:ext cx="5852160" cy="777240"/>
          </a:xfrm>
          <a:prstGeom prst="rect">
            <a:avLst/>
          </a:prstGeom>
          <a:noFill/>
        </p:spPr>
        <p:txBody>
          <a:bodyPr wrap="square">
            <a:spAutoFit/>
          </a:bodyPr>
          <a:lstStyle/>
          <a:p>
            <a:pPr>
              <a:spcAft>
                <a:spcPts val="300"/>
              </a:spcAft>
            </a:pPr>
            <a:r>
              <a:rPr sz="1150" b="1" i="0">
                <a:solidFill>
                  <a:srgbClr val="818CF8"/>
                </a:solidFill>
                <a:latin typeface="Arial"/>
              </a:rPr>
              <a:t>Individual Faculty Excels</a:t>
            </a:r>
          </a:p>
          <a:p>
            <a:pPr>
              <a:spcAft>
                <a:spcPts val="0"/>
              </a:spcAft>
            </a:pPr>
            <a:r>
              <a:rPr sz="950" b="0" i="0">
                <a:solidFill>
                  <a:srgbClr val="E2E8F0"/>
                </a:solidFill>
                <a:latin typeface="Arial"/>
              </a:rPr>
              <a:t>Physics, Chemistry, and Math tutors keep disconnected mark sheets on personal laptops with zero cross-subject visibility.</a:t>
            </a:r>
          </a:p>
        </p:txBody>
      </p:sp>
      <p:sp>
        <p:nvSpPr>
          <p:cNvPr id="12" name="Rounded Rectangle 11"/>
          <p:cNvSpPr/>
          <p:nvPr/>
        </p:nvSpPr>
        <p:spPr>
          <a:xfrm>
            <a:off x="731520" y="3931920"/>
            <a:ext cx="6217920" cy="10058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931920"/>
            <a:ext cx="73152" cy="10058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041648"/>
            <a:ext cx="5852160" cy="777240"/>
          </a:xfrm>
          <a:prstGeom prst="rect">
            <a:avLst/>
          </a:prstGeom>
          <a:noFill/>
        </p:spPr>
        <p:txBody>
          <a:bodyPr wrap="square">
            <a:spAutoFit/>
          </a:bodyPr>
          <a:lstStyle/>
          <a:p>
            <a:pPr>
              <a:spcAft>
                <a:spcPts val="300"/>
              </a:spcAft>
            </a:pPr>
            <a:r>
              <a:rPr sz="1150" b="1" i="0">
                <a:solidFill>
                  <a:srgbClr val="F59E0B"/>
                </a:solidFill>
                <a:latin typeface="Arial"/>
              </a:rPr>
              <a:t>Biometric &amp; Register Logs</a:t>
            </a:r>
          </a:p>
          <a:p>
            <a:pPr>
              <a:spcAft>
                <a:spcPts val="0"/>
              </a:spcAft>
            </a:pPr>
            <a:r>
              <a:rPr sz="950" b="0" i="0">
                <a:solidFill>
                  <a:srgbClr val="E2E8F0"/>
                </a:solidFill>
                <a:latin typeface="Arial"/>
              </a:rPr>
              <a:t>Daily attendance trapped in biometric fingerprint readers or paper registers; absenteeism is never correlated with test drops.</a:t>
            </a:r>
          </a:p>
        </p:txBody>
      </p:sp>
      <p:sp>
        <p:nvSpPr>
          <p:cNvPr id="15" name="Rounded Rectangle 14"/>
          <p:cNvSpPr/>
          <p:nvPr/>
        </p:nvSpPr>
        <p:spPr>
          <a:xfrm>
            <a:off x="731520" y="5074920"/>
            <a:ext cx="6217920" cy="10058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074920"/>
            <a:ext cx="73152" cy="100584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184648"/>
            <a:ext cx="5852160" cy="777240"/>
          </a:xfrm>
          <a:prstGeom prst="rect">
            <a:avLst/>
          </a:prstGeom>
          <a:noFill/>
        </p:spPr>
        <p:txBody>
          <a:bodyPr wrap="square">
            <a:spAutoFit/>
          </a:bodyPr>
          <a:lstStyle/>
          <a:p>
            <a:pPr>
              <a:spcAft>
                <a:spcPts val="300"/>
              </a:spcAft>
            </a:pPr>
            <a:r>
              <a:rPr sz="1150" b="1" i="0">
                <a:solidFill>
                  <a:srgbClr val="94A3B8"/>
                </a:solidFill>
                <a:latin typeface="Arial"/>
              </a:rPr>
              <a:t>WhatsApp Broadcast Groups</a:t>
            </a:r>
          </a:p>
          <a:p>
            <a:pPr>
              <a:spcAft>
                <a:spcPts val="0"/>
              </a:spcAft>
            </a:pPr>
            <a:r>
              <a:rPr sz="950" b="0" i="0">
                <a:solidFill>
                  <a:srgbClr val="E2E8F0"/>
                </a:solidFill>
                <a:latin typeface="Arial"/>
              </a:rPr>
              <a:t>Raw PDF score lists blasted to parents with zero diagnostic explanation; non-English speaking parents face language barriers.</a:t>
            </a:r>
          </a:p>
        </p:txBody>
      </p:sp>
      <p:sp>
        <p:nvSpPr>
          <p:cNvPr id="18" name="Rounded Rectangle 17"/>
          <p:cNvSpPr/>
          <p:nvPr/>
        </p:nvSpPr>
        <p:spPr>
          <a:xfrm>
            <a:off x="7132320" y="1645920"/>
            <a:ext cx="4297680" cy="44348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1828800"/>
            <a:ext cx="3749039" cy="4069080"/>
          </a:xfrm>
          <a:prstGeom prst="rect">
            <a:avLst/>
          </a:prstGeom>
          <a:noFill/>
        </p:spPr>
        <p:txBody>
          <a:bodyPr wrap="square">
            <a:spAutoFit/>
          </a:bodyPr>
          <a:lstStyle/>
          <a:p>
            <a:pPr>
              <a:spcAft>
                <a:spcPts val="400"/>
              </a:spcAft>
            </a:pPr>
            <a:r>
              <a:rPr sz="1100" b="1" i="0">
                <a:solidFill>
                  <a:srgbClr val="EF4444"/>
                </a:solidFill>
                <a:latin typeface="Arial"/>
              </a:rPr>
              <a:t>THE QUANTIFIED TOLL</a:t>
            </a:r>
          </a:p>
          <a:p>
            <a:pPr>
              <a:spcAft>
                <a:spcPts val="200"/>
              </a:spcAft>
            </a:pPr>
            <a:r>
              <a:rPr sz="3600" b="1" i="0">
                <a:solidFill>
                  <a:srgbClr val="FFFFFF"/>
                </a:solidFill>
                <a:latin typeface="Arial"/>
              </a:rPr>
              <a:t>₹17,28,000</a:t>
            </a:r>
          </a:p>
          <a:p>
            <a:pPr>
              <a:spcAft>
                <a:spcPts val="1000"/>
              </a:spcAft>
            </a:pPr>
            <a:r>
              <a:rPr sz="1050" b="0" i="0">
                <a:solidFill>
                  <a:srgbClr val="38BDF8"/>
                </a:solidFill>
                <a:latin typeface="Arial"/>
              </a:rPr>
              <a:t>Average annual tuition lost per 400-student institute due to mid-session student dropouts.</a:t>
            </a:r>
          </a:p>
          <a:p>
            <a:pPr>
              <a:spcAft>
                <a:spcPts val="600"/>
              </a:spcAft>
            </a:pPr>
            <a:r>
              <a:rPr sz="1000" b="0" i="0">
                <a:solidFill>
                  <a:srgbClr val="E2E8F0"/>
                </a:solidFill>
                <a:latin typeface="Arial"/>
              </a:rPr>
              <a:t>• 8% – 15% Mid-Session Churn: Typically peaks in months 3–5 when students hit conceptual friction in Organic Chemistry or Calculus.</a:t>
            </a:r>
          </a:p>
          <a:p>
            <a:pPr>
              <a:spcAft>
                <a:spcPts val="600"/>
              </a:spcAft>
            </a:pPr>
            <a:r>
              <a:rPr sz="1000" b="0" i="0">
                <a:solidFill>
                  <a:srgbClr val="E2E8F0"/>
                </a:solidFill>
                <a:latin typeface="Arial"/>
              </a:rPr>
              <a:t>• Delayed Topic Diagnosis: Faculty only discover concept gaps after major milestone exam failures—when it is too late to catch up.</a:t>
            </a:r>
          </a:p>
          <a:p>
            <a:pPr>
              <a:spcAft>
                <a:spcPts val="0"/>
              </a:spcAft>
            </a:pPr>
            <a:r>
              <a:rPr sz="1000" b="0" i="0">
                <a:solidFill>
                  <a:srgbClr val="E2E8F0"/>
                </a:solidFill>
                <a:latin typeface="Arial"/>
              </a:rPr>
              <a:t>• Asymmetry vs National Chains: Local institutes lose admissions to corporate players wielding proprietary data-driven personalization.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lIns="0" rIns="0" tIns="0" bIns="0">
            <a:spAutoFit/>
          </a:bodyPr>
          <a:lstStyle/>
          <a:p>
            <a:pPr>
              <a:spcAft>
                <a:spcPts val="0"/>
              </a:spcAft>
            </a:pPr>
            <a:r>
              <a:rPr sz="950" b="1" i="0">
                <a:solidFill>
                  <a:srgbClr val="06B6D4"/>
                </a:solidFill>
                <a:latin typeface="Arial"/>
              </a:rPr>
              <a:t>WHY EXISTING WORKFLOWS FAIL · THE OPERATIONAL BREAKDOWN</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spcAft>
                <a:spcPts val="0"/>
              </a:spcAft>
            </a:pPr>
            <a:r>
              <a:rPr sz="2100" b="1" i="0">
                <a:solidFill>
                  <a:srgbClr val="FFFFFF"/>
                </a:solidFill>
                <a:latin typeface="Arial"/>
              </a:rPr>
              <a:t>The Operational Trilemma of Indian Coaching Hubs</a:t>
            </a:r>
          </a:p>
        </p:txBody>
      </p:sp>
      <p:sp>
        <p:nvSpPr>
          <p:cNvPr id="5" name="TextBox 4"/>
          <p:cNvSpPr txBox="1"/>
          <p:nvPr/>
        </p:nvSpPr>
        <p:spPr>
          <a:xfrm>
            <a:off x="731520" y="1115568"/>
            <a:ext cx="10698480" cy="320040"/>
          </a:xfrm>
          <a:prstGeom prst="rect">
            <a:avLst/>
          </a:prstGeom>
          <a:noFill/>
        </p:spPr>
        <p:txBody>
          <a:bodyPr wrap="square" lIns="0" rIns="0" tIns="0" bIns="0">
            <a:spAutoFit/>
          </a:bodyPr>
          <a:lstStyle/>
          <a:p>
            <a:pPr>
              <a:spcAft>
                <a:spcPts val="0"/>
              </a:spcAft>
            </a:pPr>
            <a:r>
              <a:rPr sz="1150" b="0" i="0">
                <a:solidFill>
                  <a:srgbClr val="94A3B8"/>
                </a:solidFill>
                <a:latin typeface="Arial"/>
              </a:rPr>
              <a:t>Why generic ERPs, manual spreadsheets, and traditional BI dashboards fail to solve the crisis.</a:t>
            </a:r>
          </a:p>
        </p:txBody>
      </p:sp>
      <p:sp>
        <p:nvSpPr>
          <p:cNvPr id="6" name="Rounded Rectangle 5"/>
          <p:cNvSpPr/>
          <p:nvPr/>
        </p:nvSpPr>
        <p:spPr>
          <a:xfrm>
            <a:off x="731520" y="1645920"/>
            <a:ext cx="3474720" cy="46634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347472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83080"/>
            <a:ext cx="3108960" cy="3840480"/>
          </a:xfrm>
          <a:prstGeom prst="rect">
            <a:avLst/>
          </a:prstGeom>
          <a:noFill/>
        </p:spPr>
        <p:txBody>
          <a:bodyPr wrap="square">
            <a:spAutoFit/>
          </a:bodyPr>
          <a:lstStyle/>
          <a:p>
            <a:pPr>
              <a:spcAft>
                <a:spcPts val="200"/>
              </a:spcAft>
            </a:pPr>
            <a:r>
              <a:rPr sz="1200" b="1" i="0">
                <a:solidFill>
                  <a:srgbClr val="06B6D4"/>
                </a:solidFill>
                <a:latin typeface="Arial"/>
              </a:rPr>
              <a:t>1. DISCONNECTED SILOS</a:t>
            </a:r>
          </a:p>
          <a:p>
            <a:pPr>
              <a:spcAft>
                <a:spcPts val="800"/>
              </a:spcAft>
            </a:pPr>
            <a:r>
              <a:rPr sz="850" b="1" i="0">
                <a:solidFill>
                  <a:srgbClr val="64748B"/>
                </a:solidFill>
                <a:latin typeface="Arial"/>
              </a:rPr>
              <a:t>DATA LIVES IN ISOLATION</a:t>
            </a:r>
          </a:p>
          <a:p>
            <a:pPr>
              <a:spcAft>
                <a:spcPts val="1000"/>
              </a:spcAft>
            </a:pPr>
            <a:r>
              <a:rPr sz="950" b="0" i="0">
                <a:solidFill>
                  <a:srgbClr val="E2E8F0"/>
                </a:solidFill>
                <a:latin typeface="Arial"/>
              </a:rPr>
              <a:t>• Teachers, coordinators, and directors each see only 25% of the student's operational reality.</a:t>
            </a:r>
            <a:br/>
            <a:br/>
            <a:r>
              <a:rPr sz="950" b="0" i="0">
                <a:solidFill>
                  <a:srgbClr val="E2E8F0"/>
                </a:solidFill>
                <a:latin typeface="Arial"/>
              </a:rPr>
              <a:t>• A chemistry tutor has zero visibility when a student misses 3 consecutive physics classes or defaults on an installment.</a:t>
            </a:r>
            <a:br/>
            <a:br/>
            <a:r>
              <a:rPr sz="950" b="0" i="0">
                <a:solidFill>
                  <a:srgbClr val="E2E8F0"/>
                </a:solidFill>
                <a:latin typeface="Arial"/>
              </a:rPr>
              <a:t>• Fragmented records prevent longitudinal cross-subject correlation.</a:t>
            </a:r>
          </a:p>
        </p:txBody>
      </p:sp>
      <p:sp>
        <p:nvSpPr>
          <p:cNvPr id="9" name="Rounded Rectangle 8"/>
          <p:cNvSpPr/>
          <p:nvPr/>
        </p:nvSpPr>
        <p:spPr>
          <a:xfrm>
            <a:off x="914400" y="5715000"/>
            <a:ext cx="3108960" cy="411480"/>
          </a:xfrm>
          <a:prstGeom prst="roundRect">
            <a:avLst/>
          </a:prstGeom>
          <a:solidFill>
            <a:srgbClr val="182235"/>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742432"/>
            <a:ext cx="3108960" cy="320040"/>
          </a:xfrm>
          <a:prstGeom prst="rect">
            <a:avLst/>
          </a:prstGeom>
          <a:noFill/>
        </p:spPr>
        <p:txBody>
          <a:bodyPr wrap="none">
            <a:spAutoFit/>
          </a:bodyPr>
          <a:lstStyle/>
          <a:p>
            <a:pPr>
              <a:spcAft>
                <a:spcPts val="0"/>
              </a:spcAft>
            </a:pPr>
            <a:r>
              <a:rPr sz="900" b="1" i="0">
                <a:solidFill>
                  <a:srgbClr val="06B6D4"/>
                </a:solidFill>
                <a:latin typeface="Arial"/>
              </a:rPr>
              <a:t>FAILURE: Blind Spots</a:t>
            </a:r>
          </a:p>
        </p:txBody>
      </p:sp>
      <p:sp>
        <p:nvSpPr>
          <p:cNvPr id="11" name="Rounded Rectangle 10"/>
          <p:cNvSpPr/>
          <p:nvPr/>
        </p:nvSpPr>
        <p:spPr>
          <a:xfrm>
            <a:off x="4343400" y="1645920"/>
            <a:ext cx="3474720" cy="46634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645920"/>
            <a:ext cx="3474720"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783080"/>
            <a:ext cx="3108960" cy="3840480"/>
          </a:xfrm>
          <a:prstGeom prst="rect">
            <a:avLst/>
          </a:prstGeom>
          <a:noFill/>
        </p:spPr>
        <p:txBody>
          <a:bodyPr wrap="square">
            <a:spAutoFit/>
          </a:bodyPr>
          <a:lstStyle/>
          <a:p>
            <a:pPr>
              <a:spcAft>
                <a:spcPts val="200"/>
              </a:spcAft>
            </a:pPr>
            <a:r>
              <a:rPr sz="1200" b="1" i="0">
                <a:solidFill>
                  <a:srgbClr val="818CF8"/>
                </a:solidFill>
                <a:latin typeface="Arial"/>
              </a:rPr>
              <a:t>2. LAGGING INDICATORS</a:t>
            </a:r>
          </a:p>
          <a:p>
            <a:pPr>
              <a:spcAft>
                <a:spcPts val="800"/>
              </a:spcAft>
            </a:pPr>
            <a:r>
              <a:rPr sz="850" b="1" i="0">
                <a:solidFill>
                  <a:srgbClr val="64748B"/>
                </a:solidFill>
                <a:latin typeface="Arial"/>
              </a:rPr>
              <a:t>DESCRIPTIVE, NOT ACTIONABLE</a:t>
            </a:r>
          </a:p>
          <a:p>
            <a:pPr>
              <a:spcAft>
                <a:spcPts val="1000"/>
              </a:spcAft>
            </a:pPr>
            <a:r>
              <a:rPr sz="950" b="0" i="0">
                <a:solidFill>
                  <a:srgbClr val="E2E8F0"/>
                </a:solidFill>
                <a:latin typeface="Arial"/>
              </a:rPr>
              <a:t>• Traditional BI (PowerBI/Tableau) only visualizes historical failure: 'Batch average was 54% three weeks ago.'</a:t>
            </a:r>
            <a:br/>
            <a:br/>
            <a:r>
              <a:rPr sz="950" b="0" i="0">
                <a:solidFill>
                  <a:srgbClr val="E2E8F0"/>
                </a:solidFill>
                <a:latin typeface="Arial"/>
              </a:rPr>
              <a:t>• Produces static charts that require manual data engineering that coaching institutes cannot afford.</a:t>
            </a:r>
            <a:br/>
            <a:br/>
            <a:r>
              <a:rPr sz="950" b="0" i="0">
                <a:solidFill>
                  <a:srgbClr val="E2E8F0"/>
                </a:solidFill>
                <a:latin typeface="Arial"/>
              </a:rPr>
              <a:t>• By the time failure is charted, the student has already checked out or dropped out.</a:t>
            </a:r>
          </a:p>
        </p:txBody>
      </p:sp>
      <p:sp>
        <p:nvSpPr>
          <p:cNvPr id="14" name="Rounded Rectangle 13"/>
          <p:cNvSpPr/>
          <p:nvPr/>
        </p:nvSpPr>
        <p:spPr>
          <a:xfrm>
            <a:off x="4526280" y="5715000"/>
            <a:ext cx="3108960" cy="411480"/>
          </a:xfrm>
          <a:prstGeom prst="roundRect">
            <a:avLst/>
          </a:prstGeom>
          <a:solidFill>
            <a:srgbClr val="182235"/>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5742432"/>
            <a:ext cx="3108960" cy="320040"/>
          </a:xfrm>
          <a:prstGeom prst="rect">
            <a:avLst/>
          </a:prstGeom>
          <a:noFill/>
        </p:spPr>
        <p:txBody>
          <a:bodyPr wrap="none">
            <a:spAutoFit/>
          </a:bodyPr>
          <a:lstStyle/>
          <a:p>
            <a:pPr>
              <a:spcAft>
                <a:spcPts val="0"/>
              </a:spcAft>
            </a:pPr>
            <a:r>
              <a:rPr sz="900" b="1" i="0">
                <a:solidFill>
                  <a:srgbClr val="818CF8"/>
                </a:solidFill>
                <a:latin typeface="Arial"/>
              </a:rPr>
              <a:t>FAILURE: Too Late to Act</a:t>
            </a:r>
          </a:p>
        </p:txBody>
      </p:sp>
      <p:sp>
        <p:nvSpPr>
          <p:cNvPr id="16" name="Rounded Rectangle 15"/>
          <p:cNvSpPr/>
          <p:nvPr/>
        </p:nvSpPr>
        <p:spPr>
          <a:xfrm>
            <a:off x="7955280" y="1645920"/>
            <a:ext cx="3474720" cy="46634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80" y="1645920"/>
            <a:ext cx="347472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1783080"/>
            <a:ext cx="3108960" cy="3840480"/>
          </a:xfrm>
          <a:prstGeom prst="rect">
            <a:avLst/>
          </a:prstGeom>
          <a:noFill/>
        </p:spPr>
        <p:txBody>
          <a:bodyPr wrap="square">
            <a:spAutoFit/>
          </a:bodyPr>
          <a:lstStyle/>
          <a:p>
            <a:pPr>
              <a:spcAft>
                <a:spcPts val="200"/>
              </a:spcAft>
            </a:pPr>
            <a:r>
              <a:rPr sz="1200" b="1" i="0">
                <a:solidFill>
                  <a:srgbClr val="F59E0B"/>
                </a:solidFill>
                <a:latin typeface="Arial"/>
              </a:rPr>
              <a:t>3. OPERATIONAL PARALYSIS</a:t>
            </a:r>
          </a:p>
          <a:p>
            <a:pPr>
              <a:spcAft>
                <a:spcPts val="800"/>
              </a:spcAft>
            </a:pPr>
            <a:r>
              <a:rPr sz="850" b="1" i="0">
                <a:solidFill>
                  <a:srgbClr val="64748B"/>
                </a:solidFill>
                <a:latin typeface="Arial"/>
              </a:rPr>
              <a:t>ADMINISTRATIVE BURNOUT</a:t>
            </a:r>
          </a:p>
          <a:p>
            <a:pPr>
              <a:spcAft>
                <a:spcPts val="1000"/>
              </a:spcAft>
            </a:pPr>
            <a:r>
              <a:rPr sz="950" b="0" i="0">
                <a:solidFill>
                  <a:srgbClr val="E2E8F0"/>
                </a:solidFill>
                <a:latin typeface="Arial"/>
              </a:rPr>
              <a:t>• Academic coordinators spend 5+ hours every Sunday manually matching OMR scores with rosters using VLOOKUP.</a:t>
            </a:r>
            <a:br/>
            <a:br/>
            <a:r>
              <a:rPr sz="950" b="0" i="0">
                <a:solidFill>
                  <a:srgbClr val="E2E8F0"/>
                </a:solidFill>
                <a:latin typeface="Arial"/>
              </a:rPr>
              <a:t>• Enterprise ERPs demand total workflow replacement that low-tech staff actively resist.</a:t>
            </a:r>
            <a:br/>
            <a:br/>
            <a:r>
              <a:rPr sz="950" b="0" i="0">
                <a:solidFill>
                  <a:srgbClr val="E2E8F0"/>
                </a:solidFill>
                <a:latin typeface="Arial"/>
              </a:rPr>
              <a:t>• Teachers drown in administrative entry instead of high-impact pedagogical counseling.</a:t>
            </a:r>
          </a:p>
        </p:txBody>
      </p:sp>
      <p:sp>
        <p:nvSpPr>
          <p:cNvPr id="19" name="Rounded Rectangle 18"/>
          <p:cNvSpPr/>
          <p:nvPr/>
        </p:nvSpPr>
        <p:spPr>
          <a:xfrm>
            <a:off x="8138160" y="5715000"/>
            <a:ext cx="3108960" cy="411480"/>
          </a:xfrm>
          <a:prstGeom prst="roundRect">
            <a:avLst/>
          </a:prstGeom>
          <a:solidFill>
            <a:srgbClr val="182235"/>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5742432"/>
            <a:ext cx="3108960" cy="320040"/>
          </a:xfrm>
          <a:prstGeom prst="rect">
            <a:avLst/>
          </a:prstGeom>
          <a:noFill/>
        </p:spPr>
        <p:txBody>
          <a:bodyPr wrap="none">
            <a:spAutoFit/>
          </a:bodyPr>
          <a:lstStyle/>
          <a:p>
            <a:pPr>
              <a:spcAft>
                <a:spcPts val="0"/>
              </a:spcAft>
            </a:pPr>
            <a:r>
              <a:rPr sz="900" b="1" i="0">
                <a:solidFill>
                  <a:srgbClr val="F59E0B"/>
                </a:solidFill>
                <a:latin typeface="Arial"/>
              </a:rPr>
              <a:t>FAILURE: Staff Rejection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lIns="0" rIns="0" tIns="0" bIns="0">
            <a:spAutoFit/>
          </a:bodyPr>
          <a:lstStyle/>
          <a:p>
            <a:pPr>
              <a:spcAft>
                <a:spcPts val="0"/>
              </a:spcAft>
            </a:pPr>
            <a:r>
              <a:rPr sz="950" b="1" i="0">
                <a:solidFill>
                  <a:srgbClr val="06B6D4"/>
                </a:solidFill>
                <a:latin typeface="Arial"/>
              </a:rPr>
              <a:t>THE PRODUCT · SYSTEMIC LEAP</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spcAft>
                <a:spcPts val="0"/>
              </a:spcAft>
            </a:pPr>
            <a:r>
              <a:rPr sz="2100" b="1" i="0">
                <a:solidFill>
                  <a:srgbClr val="FFFFFF"/>
                </a:solidFill>
                <a:latin typeface="Arial"/>
              </a:rPr>
              <a:t>DataMoat: One Connected Intelligence Layer</a:t>
            </a:r>
          </a:p>
        </p:txBody>
      </p:sp>
      <p:sp>
        <p:nvSpPr>
          <p:cNvPr id="5" name="TextBox 4"/>
          <p:cNvSpPr txBox="1"/>
          <p:nvPr/>
        </p:nvSpPr>
        <p:spPr>
          <a:xfrm>
            <a:off x="731520" y="1115568"/>
            <a:ext cx="10698480" cy="320040"/>
          </a:xfrm>
          <a:prstGeom prst="rect">
            <a:avLst/>
          </a:prstGeom>
          <a:noFill/>
        </p:spPr>
        <p:txBody>
          <a:bodyPr wrap="square" lIns="0" rIns="0" tIns="0" bIns="0">
            <a:spAutoFit/>
          </a:bodyPr>
          <a:lstStyle/>
          <a:p>
            <a:pPr>
              <a:spcAft>
                <a:spcPts val="0"/>
              </a:spcAft>
            </a:pPr>
            <a:r>
              <a:rPr sz="1150" b="0" i="0">
                <a:solidFill>
                  <a:srgbClr val="94A3B8"/>
                </a:solidFill>
                <a:latin typeface="Arial"/>
              </a:rPr>
              <a:t>Meeting coaching institutes where they already are—turning raw files into prescriptive decisions.</a:t>
            </a:r>
          </a:p>
        </p:txBody>
      </p:sp>
      <p:sp>
        <p:nvSpPr>
          <p:cNvPr id="6" name="Rounded Rectangle 5"/>
          <p:cNvSpPr/>
          <p:nvPr/>
        </p:nvSpPr>
        <p:spPr>
          <a:xfrm>
            <a:off x="731520" y="1645920"/>
            <a:ext cx="10698480" cy="86868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91440" cy="8686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37360"/>
            <a:ext cx="10241280" cy="685800"/>
          </a:xfrm>
          <a:prstGeom prst="rect">
            <a:avLst/>
          </a:prstGeom>
          <a:noFill/>
        </p:spPr>
        <p:txBody>
          <a:bodyPr wrap="square">
            <a:spAutoFit/>
          </a:bodyPr>
          <a:lstStyle/>
          <a:p>
            <a:pPr>
              <a:spcAft>
                <a:spcPts val="200"/>
              </a:spcAft>
            </a:pPr>
            <a:r>
              <a:rPr sz="1100" b="1" i="0">
                <a:solidFill>
                  <a:srgbClr val="06B6D4"/>
                </a:solidFill>
                <a:latin typeface="Arial"/>
              </a:rPr>
              <a:t>1. OMNICHANNEL INGESTION GATEWAY</a:t>
            </a:r>
          </a:p>
          <a:p>
            <a:pPr>
              <a:spcAft>
                <a:spcPts val="0"/>
              </a:spcAft>
            </a:pPr>
            <a:r>
              <a:rPr sz="950" b="0" i="0">
                <a:solidFill>
                  <a:srgbClr val="E2E8F0"/>
                </a:solidFill>
                <a:latin typeface="Arial"/>
              </a:rPr>
              <a:t>Zero ERP Migration: Ingests phone-camera OMR photos (OpenCV), WhatsApp marksheets, and Excel files with local SQLite offline caching.</a:t>
            </a:r>
          </a:p>
        </p:txBody>
      </p:sp>
      <p:sp>
        <p:nvSpPr>
          <p:cNvPr id="9" name="Rounded Rectangle 8"/>
          <p:cNvSpPr/>
          <p:nvPr/>
        </p:nvSpPr>
        <p:spPr>
          <a:xfrm>
            <a:off x="731520" y="2697480"/>
            <a:ext cx="10698480" cy="86868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97480"/>
            <a:ext cx="91440" cy="86868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788920"/>
            <a:ext cx="10241280" cy="685800"/>
          </a:xfrm>
          <a:prstGeom prst="rect">
            <a:avLst/>
          </a:prstGeom>
          <a:noFill/>
        </p:spPr>
        <p:txBody>
          <a:bodyPr wrap="square">
            <a:spAutoFit/>
          </a:bodyPr>
          <a:lstStyle/>
          <a:p>
            <a:pPr>
              <a:spcAft>
                <a:spcPts val="200"/>
              </a:spcAft>
            </a:pPr>
            <a:r>
              <a:rPr sz="1100" b="1" i="0">
                <a:solidFill>
                  <a:srgbClr val="818CF8"/>
                </a:solidFill>
                <a:latin typeface="Arial"/>
              </a:rPr>
              <a:t>2. PSYCHOMETRIC &amp; ML INTELLIGENCE CORE</a:t>
            </a:r>
          </a:p>
          <a:p>
            <a:pPr>
              <a:spcAft>
                <a:spcPts val="0"/>
              </a:spcAft>
            </a:pPr>
            <a:r>
              <a:rPr sz="950" b="0" i="0">
                <a:solidFill>
                  <a:srgbClr val="E2E8F0"/>
                </a:solidFill>
                <a:latin typeface="Arial"/>
              </a:rPr>
              <a:t>2PL Item Response Theory (IRT) question calibration + Bayesian Knowledge Tracing topic mastery + LightGBM early warning risk scoring.</a:t>
            </a:r>
          </a:p>
        </p:txBody>
      </p:sp>
      <p:sp>
        <p:nvSpPr>
          <p:cNvPr id="12" name="Rounded Rectangle 11"/>
          <p:cNvSpPr/>
          <p:nvPr/>
        </p:nvSpPr>
        <p:spPr>
          <a:xfrm>
            <a:off x="731520" y="3749039"/>
            <a:ext cx="10698480" cy="86868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749039"/>
            <a:ext cx="91440" cy="8686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840479"/>
            <a:ext cx="10241280" cy="685800"/>
          </a:xfrm>
          <a:prstGeom prst="rect">
            <a:avLst/>
          </a:prstGeom>
          <a:noFill/>
        </p:spPr>
        <p:txBody>
          <a:bodyPr wrap="square">
            <a:spAutoFit/>
          </a:bodyPr>
          <a:lstStyle/>
          <a:p>
            <a:pPr>
              <a:spcAft>
                <a:spcPts val="200"/>
              </a:spcAft>
            </a:pPr>
            <a:r>
              <a:rPr sz="1100" b="1" i="0">
                <a:solidFill>
                  <a:srgbClr val="10B981"/>
                </a:solidFill>
                <a:latin typeface="Arial"/>
              </a:rPr>
              <a:t>3. ACTIONABLE STAKEHOLDER WORKSPACES</a:t>
            </a:r>
          </a:p>
          <a:p>
            <a:pPr>
              <a:spcAft>
                <a:spcPts val="0"/>
              </a:spcAft>
            </a:pPr>
            <a:r>
              <a:rPr sz="950" b="0" i="0">
                <a:solidFill>
                  <a:srgbClr val="E2E8F0"/>
                </a:solidFill>
                <a:latin typeface="Arial"/>
              </a:rPr>
              <a:t>Director Macro Overview (Attrition &amp; Revenue Risk) | Faculty Triage Desk (1-Click Remedial) | WhatsApp Parent Digests (Bilingual Hindi/English).</a:t>
            </a:r>
          </a:p>
        </p:txBody>
      </p:sp>
      <p:graphicFrame>
        <p:nvGraphicFramePr>
          <p:cNvPr id="15" name="Table 14"/>
          <p:cNvGraphicFramePr>
            <a:graphicFrameLocks noGrp="1"/>
          </p:cNvGraphicFramePr>
          <p:nvPr/>
        </p:nvGraphicFramePr>
        <p:xfrm>
          <a:off x="731520" y="4937760"/>
          <a:ext cx="10698480" cy="1508760"/>
        </p:xfrm>
        <a:graphic>
          <a:graphicData uri="http://schemas.openxmlformats.org/drawingml/2006/table">
            <a:tbl>
              <a:tblPr firstRow="1" bandRow="1">
                <a:tableStyleId>{5C22544A-7EE6-4342-B048-85BDC9FD1C3A}</a:tableStyleId>
              </a:tblPr>
              <a:tblGrid>
                <a:gridCol w="2468880"/>
                <a:gridCol w="2743200"/>
                <a:gridCol w="2743200"/>
                <a:gridCol w="2743200"/>
              </a:tblGrid>
              <a:tr h="377190">
                <a:tc>
                  <a:txBody>
                    <a:bodyPr/>
                    <a:lstStyle/>
                    <a:p>
                      <a:r>
                        <a:rPr sz="900" b="1">
                          <a:solidFill>
                            <a:srgbClr val="FFFFFF"/>
                          </a:solidFill>
                          <a:latin typeface="Arial"/>
                        </a:rPr>
                        <a:t>DIMENSION</a:t>
                      </a:r>
                    </a:p>
                  </a:txBody>
                  <a:tcPr>
                    <a:solidFill>
                      <a:srgbClr val="182235"/>
                    </a:solidFill>
                  </a:tcPr>
                </a:tc>
                <a:tc>
                  <a:txBody>
                    <a:bodyPr/>
                    <a:lstStyle/>
                    <a:p>
                      <a:r>
                        <a:rPr sz="900" b="1">
                          <a:solidFill>
                            <a:srgbClr val="FFFFFF"/>
                          </a:solidFill>
                          <a:latin typeface="Arial"/>
                        </a:rPr>
                        <a:t>OPERATIONS APPS (CURRENT NEXTUTE)</a:t>
                      </a:r>
                    </a:p>
                  </a:txBody>
                  <a:tcPr>
                    <a:solidFill>
                      <a:srgbClr val="182235"/>
                    </a:solidFill>
                  </a:tcPr>
                </a:tc>
                <a:tc>
                  <a:txBody>
                    <a:bodyPr/>
                    <a:lstStyle/>
                    <a:p>
                      <a:r>
                        <a:rPr sz="900" b="1">
                          <a:solidFill>
                            <a:srgbClr val="FFFFFF"/>
                          </a:solidFill>
                          <a:latin typeface="Arial"/>
                        </a:rPr>
                        <a:t>GENERIC EDTECH ERPS</a:t>
                      </a:r>
                    </a:p>
                  </a:txBody>
                  <a:tcPr>
                    <a:solidFill>
                      <a:srgbClr val="182235"/>
                    </a:solidFill>
                  </a:tcPr>
                </a:tc>
                <a:tc>
                  <a:txBody>
                    <a:bodyPr/>
                    <a:lstStyle/>
                    <a:p>
                      <a:r>
                        <a:rPr sz="900" b="1">
                          <a:solidFill>
                            <a:srgbClr val="06B6D4"/>
                          </a:solidFill>
                          <a:latin typeface="Arial"/>
                        </a:rPr>
                        <a:t>DATAMOAT INTELLIGENCE CORE</a:t>
                      </a:r>
                    </a:p>
                  </a:txBody>
                  <a:tcPr>
                    <a:solidFill>
                      <a:srgbClr val="182235"/>
                    </a:solidFill>
                  </a:tcPr>
                </a:tc>
              </a:tr>
              <a:tr h="377190">
                <a:tc>
                  <a:txBody>
                    <a:bodyPr/>
                    <a:lstStyle/>
                    <a:p>
                      <a:r>
                        <a:rPr sz="850" b="0">
                          <a:solidFill>
                            <a:srgbClr val="E2E8F0"/>
                          </a:solidFill>
                          <a:latin typeface="Arial"/>
                        </a:rPr>
                        <a:t>Core Focus</a:t>
                      </a:r>
                    </a:p>
                  </a:txBody>
                  <a:tcPr>
                    <a:solidFill>
                      <a:srgbClr val="0F172A"/>
                    </a:solidFill>
                  </a:tcPr>
                </a:tc>
                <a:tc>
                  <a:txBody>
                    <a:bodyPr/>
                    <a:lstStyle/>
                    <a:p>
                      <a:r>
                        <a:rPr sz="850" b="0">
                          <a:solidFill>
                            <a:srgbClr val="E2E8F0"/>
                          </a:solidFill>
                          <a:latin typeface="Arial"/>
                        </a:rPr>
                        <a:t>Lecture timetables &amp; scheduling</a:t>
                      </a:r>
                    </a:p>
                  </a:txBody>
                  <a:tcPr>
                    <a:solidFill>
                      <a:srgbClr val="0F172A"/>
                    </a:solidFill>
                  </a:tcPr>
                </a:tc>
                <a:tc>
                  <a:txBody>
                    <a:bodyPr/>
                    <a:lstStyle/>
                    <a:p>
                      <a:r>
                        <a:rPr sz="850" b="0">
                          <a:solidFill>
                            <a:srgbClr val="E2E8F0"/>
                          </a:solidFill>
                          <a:latin typeface="Arial"/>
                        </a:rPr>
                        <a:t>Fee accounting &amp; biometric hardware</a:t>
                      </a:r>
                    </a:p>
                  </a:txBody>
                  <a:tcPr>
                    <a:solidFill>
                      <a:srgbClr val="0F172A"/>
                    </a:solidFill>
                  </a:tcPr>
                </a:tc>
                <a:tc>
                  <a:txBody>
                    <a:bodyPr/>
                    <a:lstStyle/>
                    <a:p>
                      <a:r>
                        <a:rPr sz="850" b="1">
                          <a:solidFill>
                            <a:srgbClr val="38BDF8"/>
                          </a:solidFill>
                          <a:latin typeface="Arial"/>
                        </a:rPr>
                        <a:t>Topic mastery &amp; dropout prevention</a:t>
                      </a:r>
                    </a:p>
                  </a:txBody>
                  <a:tcPr>
                    <a:solidFill>
                      <a:srgbClr val="0F172A"/>
                    </a:solidFill>
                  </a:tcPr>
                </a:tc>
              </a:tr>
              <a:tr h="377190">
                <a:tc>
                  <a:txBody>
                    <a:bodyPr/>
                    <a:lstStyle/>
                    <a:p>
                      <a:r>
                        <a:rPr sz="850" b="0">
                          <a:solidFill>
                            <a:srgbClr val="E2E8F0"/>
                          </a:solidFill>
                          <a:latin typeface="Arial"/>
                        </a:rPr>
                        <a:t>Data Capture</a:t>
                      </a:r>
                    </a:p>
                  </a:txBody>
                  <a:tcPr>
                    <a:solidFill>
                      <a:srgbClr val="070B14"/>
                    </a:solidFill>
                  </a:tcPr>
                </a:tc>
                <a:tc>
                  <a:txBody>
                    <a:bodyPr/>
                    <a:lstStyle/>
                    <a:p>
                      <a:r>
                        <a:rPr sz="850" b="0">
                          <a:solidFill>
                            <a:srgbClr val="E2E8F0"/>
                          </a:solidFill>
                          <a:latin typeface="Arial"/>
                        </a:rPr>
                        <a:t>Manual app form entry</a:t>
                      </a:r>
                    </a:p>
                  </a:txBody>
                  <a:tcPr>
                    <a:solidFill>
                      <a:srgbClr val="070B14"/>
                    </a:solidFill>
                  </a:tcPr>
                </a:tc>
                <a:tc>
                  <a:txBody>
                    <a:bodyPr/>
                    <a:lstStyle/>
                    <a:p>
                      <a:r>
                        <a:rPr sz="850" b="0">
                          <a:solidFill>
                            <a:srgbClr val="E2E8F0"/>
                          </a:solidFill>
                          <a:latin typeface="Arial"/>
                        </a:rPr>
                        <a:t>Expensive proprietary scanners</a:t>
                      </a:r>
                    </a:p>
                  </a:txBody>
                  <a:tcPr>
                    <a:solidFill>
                      <a:srgbClr val="070B14"/>
                    </a:solidFill>
                  </a:tcPr>
                </a:tc>
                <a:tc>
                  <a:txBody>
                    <a:bodyPr/>
                    <a:lstStyle/>
                    <a:p>
                      <a:r>
                        <a:rPr sz="850" b="1">
                          <a:solidFill>
                            <a:srgbClr val="38BDF8"/>
                          </a:solidFill>
                          <a:latin typeface="Arial"/>
                        </a:rPr>
                        <a:t>Phone OMR (OpenCV) + WhatsApp + Offline</a:t>
                      </a:r>
                    </a:p>
                  </a:txBody>
                  <a:tcPr>
                    <a:solidFill>
                      <a:srgbClr val="0F172A"/>
                    </a:solidFill>
                  </a:tcPr>
                </a:tc>
              </a:tr>
              <a:tr h="377190">
                <a:tc>
                  <a:txBody>
                    <a:bodyPr/>
                    <a:lstStyle/>
                    <a:p>
                      <a:r>
                        <a:rPr sz="850" b="0">
                          <a:solidFill>
                            <a:srgbClr val="E2E8F0"/>
                          </a:solidFill>
                          <a:latin typeface="Arial"/>
                        </a:rPr>
                        <a:t>Analytics Level</a:t>
                      </a:r>
                    </a:p>
                  </a:txBody>
                  <a:tcPr>
                    <a:solidFill>
                      <a:srgbClr val="0F172A"/>
                    </a:solidFill>
                  </a:tcPr>
                </a:tc>
                <a:tc>
                  <a:txBody>
                    <a:bodyPr/>
                    <a:lstStyle/>
                    <a:p>
                      <a:r>
                        <a:rPr sz="850" b="0">
                          <a:solidFill>
                            <a:srgbClr val="E2E8F0"/>
                          </a:solidFill>
                          <a:latin typeface="Arial"/>
                        </a:rPr>
                        <a:t>Descriptive score averages</a:t>
                      </a:r>
                    </a:p>
                  </a:txBody>
                  <a:tcPr>
                    <a:solidFill>
                      <a:srgbClr val="0F172A"/>
                    </a:solidFill>
                  </a:tcPr>
                </a:tc>
                <a:tc>
                  <a:txBody>
                    <a:bodyPr/>
                    <a:lstStyle/>
                    <a:p>
                      <a:r>
                        <a:rPr sz="850" b="0">
                          <a:solidFill>
                            <a:srgbClr val="E2E8F0"/>
                          </a:solidFill>
                          <a:latin typeface="Arial"/>
                        </a:rPr>
                        <a:t>Basic attendance logs</a:t>
                      </a:r>
                    </a:p>
                  </a:txBody>
                  <a:tcPr>
                    <a:solidFill>
                      <a:srgbClr val="0F172A"/>
                    </a:solidFill>
                  </a:tcPr>
                </a:tc>
                <a:tc>
                  <a:txBody>
                    <a:bodyPr/>
                    <a:lstStyle/>
                    <a:p>
                      <a:r>
                        <a:rPr sz="850" b="1">
                          <a:solidFill>
                            <a:srgbClr val="38BDF8"/>
                          </a:solidFill>
                          <a:latin typeface="Arial"/>
                        </a:rPr>
                        <a:t>2PL IRT + BKT + Calibrated Percentile Intervals</a:t>
                      </a:r>
                    </a:p>
                  </a:txBody>
                  <a:tcPr>
                    <a:solidFill>
                      <a:srgbClr val="0F172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lIns="0" rIns="0" tIns="0" bIns="0">
            <a:spAutoFit/>
          </a:bodyPr>
          <a:lstStyle/>
          <a:p>
            <a:pPr>
              <a:spcAft>
                <a:spcPts val="0"/>
              </a:spcAft>
            </a:pPr>
            <a:r>
              <a:rPr sz="950" b="1" i="0">
                <a:solidFill>
                  <a:srgbClr val="06B6D4"/>
                </a:solidFill>
                <a:latin typeface="Arial"/>
              </a:rPr>
              <a:t>HOW IT WORKS · END-TO-END ILLUSTRATIVE JOURNEY</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spcAft>
                <a:spcPts val="0"/>
              </a:spcAft>
            </a:pPr>
            <a:r>
              <a:rPr sz="2100" b="1" i="0">
                <a:solidFill>
                  <a:srgbClr val="FFFFFF"/>
                </a:solidFill>
                <a:latin typeface="Arial"/>
              </a:rPr>
              <a:t>From OMR Bubble to Score Rebound: The Journey of Candidate #481</a:t>
            </a:r>
          </a:p>
        </p:txBody>
      </p:sp>
      <p:sp>
        <p:nvSpPr>
          <p:cNvPr id="5" name="TextBox 4"/>
          <p:cNvSpPr txBox="1"/>
          <p:nvPr/>
        </p:nvSpPr>
        <p:spPr>
          <a:xfrm>
            <a:off x="731520" y="1115568"/>
            <a:ext cx="10698480" cy="320040"/>
          </a:xfrm>
          <a:prstGeom prst="rect">
            <a:avLst/>
          </a:prstGeom>
          <a:noFill/>
        </p:spPr>
        <p:txBody>
          <a:bodyPr wrap="square" lIns="0" rIns="0" tIns="0" bIns="0">
            <a:spAutoFit/>
          </a:bodyPr>
          <a:lstStyle/>
          <a:p>
            <a:pPr>
              <a:spcAft>
                <a:spcPts val="0"/>
              </a:spcAft>
            </a:pPr>
            <a:r>
              <a:rPr sz="1150" b="0" i="0">
                <a:solidFill>
                  <a:srgbClr val="94A3B8"/>
                </a:solidFill>
                <a:latin typeface="Arial"/>
              </a:rPr>
              <a:t>Tracing how raw operational exhaust transforms into a life-changing academic turnaround in 21 days.</a:t>
            </a:r>
          </a:p>
        </p:txBody>
      </p:sp>
      <p:sp>
        <p:nvSpPr>
          <p:cNvPr id="6" name="Rounded Rectangle 5"/>
          <p:cNvSpPr/>
          <p:nvPr/>
        </p:nvSpPr>
        <p:spPr>
          <a:xfrm>
            <a:off x="731520" y="1645920"/>
            <a:ext cx="2560320" cy="411480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56032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2286000" cy="3291840"/>
          </a:xfrm>
          <a:prstGeom prst="rect">
            <a:avLst/>
          </a:prstGeom>
          <a:noFill/>
        </p:spPr>
        <p:txBody>
          <a:bodyPr wrap="square">
            <a:spAutoFit/>
          </a:bodyPr>
          <a:lstStyle/>
          <a:p>
            <a:pPr>
              <a:spcAft>
                <a:spcPts val="200"/>
              </a:spcAft>
            </a:pPr>
            <a:r>
              <a:rPr sz="1100" b="1" i="0">
                <a:solidFill>
                  <a:srgbClr val="06B6D4"/>
                </a:solidFill>
                <a:latin typeface="Arial"/>
              </a:rPr>
              <a:t>DAY 0: SUNDAY MOCK EXAM</a:t>
            </a:r>
          </a:p>
          <a:p>
            <a:pPr>
              <a:spcAft>
                <a:spcPts val="600"/>
              </a:spcAft>
            </a:pPr>
            <a:r>
              <a:rPr sz="850" b="1" i="0">
                <a:solidFill>
                  <a:srgbClr val="94A3B8"/>
                </a:solidFill>
                <a:latin typeface="Arial"/>
              </a:rPr>
              <a:t>FRICTIONLESS DATA CAPTURE</a:t>
            </a:r>
          </a:p>
          <a:p>
            <a:pPr>
              <a:spcAft>
                <a:spcPts val="0"/>
              </a:spcAft>
            </a:pPr>
            <a:r>
              <a:rPr sz="950" b="0" i="0">
                <a:solidFill>
                  <a:srgbClr val="E2E8F0"/>
                </a:solidFill>
                <a:latin typeface="Arial"/>
              </a:rPr>
              <a:t>• Candidate #481 takes 75-question JEE Mock Test on paper OMR.</a:t>
            </a:r>
            <a:br/>
            <a:br/>
            <a:r>
              <a:rPr sz="950" b="0" i="0">
                <a:solidFill>
                  <a:srgbClr val="E2E8F0"/>
                </a:solidFill>
                <a:latin typeface="Arial"/>
              </a:rPr>
              <a:t>• Staff photograph sheet using Android camera.</a:t>
            </a:r>
            <a:br/>
            <a:br/>
            <a:r>
              <a:rPr sz="950" b="0" i="0">
                <a:solidFill>
                  <a:srgbClr val="E2E8F0"/>
                </a:solidFill>
                <a:latin typeface="Arial"/>
              </a:rPr>
              <a:t>• OpenCV pipeline grades sheet in 1.2s; 2PL IRT flags 28% drop in Organic Chemistry (Reaction Mechanisms).</a:t>
            </a:r>
          </a:p>
        </p:txBody>
      </p:sp>
      <p:sp>
        <p:nvSpPr>
          <p:cNvPr id="9" name="Rounded Rectangle 8"/>
          <p:cNvSpPr/>
          <p:nvPr/>
        </p:nvSpPr>
        <p:spPr>
          <a:xfrm>
            <a:off x="868680" y="5257800"/>
            <a:ext cx="2286000" cy="347472"/>
          </a:xfrm>
          <a:prstGeom prst="roundRect">
            <a:avLst/>
          </a:prstGeom>
          <a:solidFill>
            <a:srgbClr val="182235"/>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285232"/>
            <a:ext cx="2286000" cy="292608"/>
          </a:xfrm>
          <a:prstGeom prst="rect">
            <a:avLst/>
          </a:prstGeom>
          <a:noFill/>
        </p:spPr>
        <p:txBody>
          <a:bodyPr wrap="none">
            <a:spAutoFit/>
          </a:bodyPr>
          <a:lstStyle/>
          <a:p>
            <a:pPr>
              <a:spcAft>
                <a:spcPts val="0"/>
              </a:spcAft>
            </a:pPr>
            <a:r>
              <a:rPr sz="850" b="1" i="0">
                <a:solidFill>
                  <a:srgbClr val="06B6D4"/>
                </a:solidFill>
                <a:latin typeface="Arial"/>
              </a:rPr>
              <a:t>SPEED: 1.2s Scan | 99.4% Acc</a:t>
            </a:r>
          </a:p>
        </p:txBody>
      </p:sp>
      <p:sp>
        <p:nvSpPr>
          <p:cNvPr id="11" name="Rounded Rectangle 10"/>
          <p:cNvSpPr/>
          <p:nvPr/>
        </p:nvSpPr>
        <p:spPr>
          <a:xfrm>
            <a:off x="3429000" y="1645920"/>
            <a:ext cx="2560320" cy="411480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645920"/>
            <a:ext cx="2560320"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1783080"/>
            <a:ext cx="2286000" cy="3291840"/>
          </a:xfrm>
          <a:prstGeom prst="rect">
            <a:avLst/>
          </a:prstGeom>
          <a:noFill/>
        </p:spPr>
        <p:txBody>
          <a:bodyPr wrap="square">
            <a:spAutoFit/>
          </a:bodyPr>
          <a:lstStyle/>
          <a:p>
            <a:pPr>
              <a:spcAft>
                <a:spcPts val="200"/>
              </a:spcAft>
            </a:pPr>
            <a:r>
              <a:rPr sz="1100" b="1" i="0">
                <a:solidFill>
                  <a:srgbClr val="818CF8"/>
                </a:solidFill>
                <a:latin typeface="Arial"/>
              </a:rPr>
              <a:t>DAY 2: TUESDAY TRIAGE</a:t>
            </a:r>
          </a:p>
          <a:p>
            <a:pPr>
              <a:spcAft>
                <a:spcPts val="600"/>
              </a:spcAft>
            </a:pPr>
            <a:r>
              <a:rPr sz="850" b="1" i="0">
                <a:solidFill>
                  <a:srgbClr val="94A3B8"/>
                </a:solidFill>
                <a:latin typeface="Arial"/>
              </a:rPr>
              <a:t>CALIBRATED ML EARLY WARNING</a:t>
            </a:r>
          </a:p>
          <a:p>
            <a:pPr>
              <a:spcAft>
                <a:spcPts val="0"/>
              </a:spcAft>
            </a:pPr>
            <a:r>
              <a:rPr sz="950" b="0" i="0">
                <a:solidFill>
                  <a:srgbClr val="E2E8F0"/>
                </a:solidFill>
                <a:latin typeface="Arial"/>
              </a:rPr>
              <a:t>• LightGBM risk classifier flags Candidate #481 as High Risk (Risk Probability: 82%).</a:t>
            </a:r>
            <a:br/>
            <a:br/>
            <a:r>
              <a:rPr sz="950" b="0" i="0">
                <a:solidFill>
                  <a:srgbClr val="E2E8F0"/>
                </a:solidFill>
                <a:latin typeface="Arial"/>
              </a:rPr>
              <a:t>• TreeSHAP isolates exact root causes: Missed 4 morning classes + steep drop in Reaction Mechanisms.</a:t>
            </a:r>
            <a:br/>
            <a:br/>
            <a:r>
              <a:rPr sz="950" b="0" i="0">
                <a:solidFill>
                  <a:srgbClr val="E2E8F0"/>
                </a:solidFill>
                <a:latin typeface="Arial"/>
              </a:rPr>
              <a:t>• Student appears at top of Faculty Triage Desk.</a:t>
            </a:r>
          </a:p>
        </p:txBody>
      </p:sp>
      <p:sp>
        <p:nvSpPr>
          <p:cNvPr id="14" name="Rounded Rectangle 13"/>
          <p:cNvSpPr/>
          <p:nvPr/>
        </p:nvSpPr>
        <p:spPr>
          <a:xfrm>
            <a:off x="3566160" y="5257800"/>
            <a:ext cx="2286000" cy="347472"/>
          </a:xfrm>
          <a:prstGeom prst="roundRect">
            <a:avLst/>
          </a:prstGeom>
          <a:solidFill>
            <a:srgbClr val="182235"/>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5285232"/>
            <a:ext cx="2286000" cy="292608"/>
          </a:xfrm>
          <a:prstGeom prst="rect">
            <a:avLst/>
          </a:prstGeom>
          <a:noFill/>
        </p:spPr>
        <p:txBody>
          <a:bodyPr wrap="none">
            <a:spAutoFit/>
          </a:bodyPr>
          <a:lstStyle/>
          <a:p>
            <a:pPr>
              <a:spcAft>
                <a:spcPts val="0"/>
              </a:spcAft>
            </a:pPr>
            <a:r>
              <a:rPr sz="850" b="1" i="0">
                <a:solidFill>
                  <a:srgbClr val="818CF8"/>
                </a:solidFill>
                <a:latin typeface="Arial"/>
              </a:rPr>
              <a:t>RISK: 82% Calibrated (TreeSHAP)</a:t>
            </a:r>
          </a:p>
        </p:txBody>
      </p:sp>
      <p:sp>
        <p:nvSpPr>
          <p:cNvPr id="16" name="Rounded Rectangle 15"/>
          <p:cNvSpPr/>
          <p:nvPr/>
        </p:nvSpPr>
        <p:spPr>
          <a:xfrm>
            <a:off x="6126480" y="1645920"/>
            <a:ext cx="2560320" cy="411480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1645920"/>
            <a:ext cx="256032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1783080"/>
            <a:ext cx="2286000" cy="3291840"/>
          </a:xfrm>
          <a:prstGeom prst="rect">
            <a:avLst/>
          </a:prstGeom>
          <a:noFill/>
        </p:spPr>
        <p:txBody>
          <a:bodyPr wrap="square">
            <a:spAutoFit/>
          </a:bodyPr>
          <a:lstStyle/>
          <a:p>
            <a:pPr>
              <a:spcAft>
                <a:spcPts val="200"/>
              </a:spcAft>
            </a:pPr>
            <a:r>
              <a:rPr sz="1100" b="1" i="0">
                <a:solidFill>
                  <a:srgbClr val="F59E0B"/>
                </a:solidFill>
                <a:latin typeface="Arial"/>
              </a:rPr>
              <a:t>DAY 3: WEDNESDAY ACTION</a:t>
            </a:r>
          </a:p>
          <a:p>
            <a:pPr>
              <a:spcAft>
                <a:spcPts val="600"/>
              </a:spcAft>
            </a:pPr>
            <a:r>
              <a:rPr sz="850" b="1" i="0">
                <a:solidFill>
                  <a:srgbClr val="94A3B8"/>
                </a:solidFill>
                <a:latin typeface="Arial"/>
              </a:rPr>
              <a:t>PRESCRIPTIVE 1-CLICK REMEDIATION</a:t>
            </a:r>
          </a:p>
          <a:p>
            <a:pPr>
              <a:spcAft>
                <a:spcPts val="0"/>
              </a:spcAft>
            </a:pPr>
            <a:r>
              <a:rPr sz="950" b="0" i="0">
                <a:solidFill>
                  <a:srgbClr val="E2E8F0"/>
                </a:solidFill>
                <a:latin typeface="Arial"/>
              </a:rPr>
              <a:t>• Chemistry faculty opens student diagnostic drawer.</a:t>
            </a:r>
            <a:br/>
            <a:br/>
            <a:r>
              <a:rPr sz="950" b="0" i="0">
                <a:solidFill>
                  <a:srgbClr val="E2E8F0"/>
                </a:solidFill>
                <a:latin typeface="Arial"/>
              </a:rPr>
              <a:t>• De-identified LLM generates tailored 15-question concept catch-up worksheet.</a:t>
            </a:r>
            <a:br/>
            <a:br/>
            <a:r>
              <a:rPr sz="950" b="0" i="0">
                <a:solidFill>
                  <a:srgbClr val="E2E8F0"/>
                </a:solidFill>
                <a:latin typeface="Arial"/>
              </a:rPr>
              <a:t>• 1-Click WhatsApp delivery sends empathetic progress digest to parents in Hindi; 15-min counseling logged.</a:t>
            </a:r>
          </a:p>
        </p:txBody>
      </p:sp>
      <p:sp>
        <p:nvSpPr>
          <p:cNvPr id="19" name="Rounded Rectangle 18"/>
          <p:cNvSpPr/>
          <p:nvPr/>
        </p:nvSpPr>
        <p:spPr>
          <a:xfrm>
            <a:off x="6263640" y="5257800"/>
            <a:ext cx="2286000" cy="347472"/>
          </a:xfrm>
          <a:prstGeom prst="roundRect">
            <a:avLst/>
          </a:prstGeom>
          <a:solidFill>
            <a:srgbClr val="182235"/>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5285232"/>
            <a:ext cx="2286000" cy="292608"/>
          </a:xfrm>
          <a:prstGeom prst="rect">
            <a:avLst/>
          </a:prstGeom>
          <a:noFill/>
        </p:spPr>
        <p:txBody>
          <a:bodyPr wrap="none">
            <a:spAutoFit/>
          </a:bodyPr>
          <a:lstStyle/>
          <a:p>
            <a:pPr>
              <a:spcAft>
                <a:spcPts val="0"/>
              </a:spcAft>
            </a:pPr>
            <a:r>
              <a:rPr sz="850" b="1" i="0">
                <a:solidFill>
                  <a:srgbClr val="F59E0B"/>
                </a:solidFill>
                <a:latin typeface="Arial"/>
              </a:rPr>
              <a:t>DELIVERY: 1-Click WhatsApp</a:t>
            </a:r>
          </a:p>
        </p:txBody>
      </p:sp>
      <p:sp>
        <p:nvSpPr>
          <p:cNvPr id="21" name="Rounded Rectangle 20"/>
          <p:cNvSpPr/>
          <p:nvPr/>
        </p:nvSpPr>
        <p:spPr>
          <a:xfrm>
            <a:off x="8823960" y="1645920"/>
            <a:ext cx="2560320" cy="411480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23960" y="1645920"/>
            <a:ext cx="256032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0" y="1783080"/>
            <a:ext cx="2286000" cy="3291840"/>
          </a:xfrm>
          <a:prstGeom prst="rect">
            <a:avLst/>
          </a:prstGeom>
          <a:noFill/>
        </p:spPr>
        <p:txBody>
          <a:bodyPr wrap="square">
            <a:spAutoFit/>
          </a:bodyPr>
          <a:lstStyle/>
          <a:p>
            <a:pPr>
              <a:spcAft>
                <a:spcPts val="200"/>
              </a:spcAft>
            </a:pPr>
            <a:r>
              <a:rPr sz="1100" b="1" i="0">
                <a:solidFill>
                  <a:srgbClr val="10B981"/>
                </a:solidFill>
                <a:latin typeface="Arial"/>
              </a:rPr>
              <a:t>DAY 21: RETEST &amp; LIFT</a:t>
            </a:r>
          </a:p>
          <a:p>
            <a:pPr>
              <a:spcAft>
                <a:spcPts val="600"/>
              </a:spcAft>
            </a:pPr>
            <a:r>
              <a:rPr sz="850" b="1" i="0">
                <a:solidFill>
                  <a:srgbClr val="94A3B8"/>
                </a:solidFill>
                <a:latin typeface="Arial"/>
              </a:rPr>
              <a:t>CLOSED-LOOP EFFICACY FEEDBACK</a:t>
            </a:r>
          </a:p>
          <a:p>
            <a:pPr>
              <a:spcAft>
                <a:spcPts val="0"/>
              </a:spcAft>
            </a:pPr>
            <a:r>
              <a:rPr sz="950" b="0" i="0">
                <a:solidFill>
                  <a:srgbClr val="E2E8F0"/>
                </a:solidFill>
                <a:latin typeface="Arial"/>
              </a:rPr>
              <a:t>• Candidate #481 completes catch-up worksheet and attends doubt session.</a:t>
            </a:r>
            <a:br/>
            <a:br/>
            <a:r>
              <a:rPr sz="950" b="0" i="0">
                <a:solidFill>
                  <a:srgbClr val="E2E8F0"/>
                </a:solidFill>
                <a:latin typeface="Arial"/>
              </a:rPr>
              <a:t>• Retest score rebounds by +18% in Organic Chemistry.</a:t>
            </a:r>
            <a:br/>
            <a:br/>
            <a:r>
              <a:rPr sz="950" b="0" i="0">
                <a:solidFill>
                  <a:srgbClr val="E2E8F0"/>
                </a:solidFill>
                <a:latin typeface="Arial"/>
              </a:rPr>
              <a:t>• Attendance stabilizes; zero tuition installment default; model logs successful intervention.</a:t>
            </a:r>
          </a:p>
        </p:txBody>
      </p:sp>
      <p:sp>
        <p:nvSpPr>
          <p:cNvPr id="24" name="Rounded Rectangle 23"/>
          <p:cNvSpPr/>
          <p:nvPr/>
        </p:nvSpPr>
        <p:spPr>
          <a:xfrm>
            <a:off x="8961120" y="5257800"/>
            <a:ext cx="2286000" cy="347472"/>
          </a:xfrm>
          <a:prstGeom prst="roundRect">
            <a:avLst/>
          </a:prstGeom>
          <a:solidFill>
            <a:srgbClr val="18223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0" y="5285232"/>
            <a:ext cx="2286000" cy="292608"/>
          </a:xfrm>
          <a:prstGeom prst="rect">
            <a:avLst/>
          </a:prstGeom>
          <a:noFill/>
        </p:spPr>
        <p:txBody>
          <a:bodyPr wrap="none">
            <a:spAutoFit/>
          </a:bodyPr>
          <a:lstStyle/>
          <a:p>
            <a:pPr>
              <a:spcAft>
                <a:spcPts val="0"/>
              </a:spcAft>
            </a:pPr>
            <a:r>
              <a:rPr sz="850" b="1" i="0">
                <a:solidFill>
                  <a:srgbClr val="10B981"/>
                </a:solidFill>
                <a:latin typeface="Arial"/>
              </a:rPr>
              <a:t>LIFT: +18% Score Rebound</a:t>
            </a:r>
          </a:p>
        </p:txBody>
      </p:sp>
      <p:sp>
        <p:nvSpPr>
          <p:cNvPr id="26" name="Rounded Rectangle 25"/>
          <p:cNvSpPr/>
          <p:nvPr/>
        </p:nvSpPr>
        <p:spPr>
          <a:xfrm>
            <a:off x="731520" y="5897880"/>
            <a:ext cx="10698480" cy="594360"/>
          </a:xfrm>
          <a:prstGeom prst="roundRect">
            <a:avLst/>
          </a:prstGeom>
          <a:solidFill>
            <a:srgbClr val="182235"/>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943600"/>
            <a:ext cx="10332720" cy="457200"/>
          </a:xfrm>
          <a:prstGeom prst="rect">
            <a:avLst/>
          </a:prstGeom>
          <a:noFill/>
        </p:spPr>
        <p:txBody>
          <a:bodyPr wrap="none">
            <a:spAutoFit/>
          </a:bodyPr>
          <a:lstStyle/>
          <a:p>
            <a:pPr>
              <a:spcAft>
                <a:spcPts val="0"/>
              </a:spcAft>
            </a:pPr>
            <a:r>
              <a:rPr sz="950" b="1" i="0">
                <a:solidFill>
                  <a:srgbClr val="10B981"/>
                </a:solidFill>
                <a:latin typeface="Arial"/>
              </a:rPr>
              <a:t>CLOSED-LOOP RESULT: Prevented mid-session dropout | Saved ₹36,000 in uncollected tuition | Protected student mental well-being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lIns="0" rIns="0" tIns="0" bIns="0">
            <a:spAutoFit/>
          </a:bodyPr>
          <a:lstStyle/>
          <a:p>
            <a:pPr>
              <a:spcAft>
                <a:spcPts val="0"/>
              </a:spcAft>
            </a:pPr>
            <a:r>
              <a:rPr sz="950" b="1" i="0">
                <a:solidFill>
                  <a:srgbClr val="06B6D4"/>
                </a:solidFill>
                <a:latin typeface="Arial"/>
              </a:rPr>
              <a:t>PRODUCT SHOWCASE · THE INTELLIGENCE CONSOLE</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spcAft>
                <a:spcPts val="0"/>
              </a:spcAft>
            </a:pPr>
            <a:r>
              <a:rPr sz="2100" b="1" i="0">
                <a:solidFill>
                  <a:srgbClr val="FFFFFF"/>
                </a:solidFill>
                <a:latin typeface="Arial"/>
              </a:rPr>
              <a:t>Designed for Fast Triage: Real-Time Intelligence in Action</a:t>
            </a:r>
          </a:p>
        </p:txBody>
      </p:sp>
      <p:sp>
        <p:nvSpPr>
          <p:cNvPr id="5" name="TextBox 4"/>
          <p:cNvSpPr txBox="1"/>
          <p:nvPr/>
        </p:nvSpPr>
        <p:spPr>
          <a:xfrm>
            <a:off x="731520" y="1115568"/>
            <a:ext cx="10698480" cy="320040"/>
          </a:xfrm>
          <a:prstGeom prst="rect">
            <a:avLst/>
          </a:prstGeom>
          <a:noFill/>
        </p:spPr>
        <p:txBody>
          <a:bodyPr wrap="square" lIns="0" rIns="0" tIns="0" bIns="0">
            <a:spAutoFit/>
          </a:bodyPr>
          <a:lstStyle/>
          <a:p>
            <a:pPr>
              <a:spcAft>
                <a:spcPts val="0"/>
              </a:spcAft>
            </a:pPr>
            <a:r>
              <a:rPr sz="1150" b="0" i="0">
                <a:solidFill>
                  <a:srgbClr val="94A3B8"/>
                </a:solidFill>
                <a:latin typeface="Arial"/>
              </a:rPr>
              <a:t>Authentic interface mockup demonstrating role-based triage, explainable alerts, and 1-click actions.</a:t>
            </a:r>
          </a:p>
        </p:txBody>
      </p:sp>
      <p:sp>
        <p:nvSpPr>
          <p:cNvPr id="6" name="Rounded Rectangle 5"/>
          <p:cNvSpPr/>
          <p:nvPr/>
        </p:nvSpPr>
        <p:spPr>
          <a:xfrm>
            <a:off x="731520" y="1645920"/>
            <a:ext cx="10698480" cy="4754880"/>
          </a:xfrm>
          <a:prstGeom prst="roundRect">
            <a:avLst/>
          </a:prstGeom>
          <a:solidFill>
            <a:srgbClr val="0B0F19"/>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0698480"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10332720" cy="320040"/>
          </a:xfrm>
          <a:prstGeom prst="rect">
            <a:avLst/>
          </a:prstGeom>
          <a:noFill/>
        </p:spPr>
        <p:txBody>
          <a:bodyPr wrap="none">
            <a:spAutoFit/>
          </a:bodyPr>
          <a:lstStyle/>
          <a:p>
            <a:pPr>
              <a:spcAft>
                <a:spcPts val="0"/>
              </a:spcAft>
            </a:pPr>
            <a:r>
              <a:rPr sz="950" b="1" i="0">
                <a:solidFill>
                  <a:srgbClr val="38BDF8"/>
                </a:solidFill>
                <a:latin typeface="Arial"/>
              </a:rPr>
              <a:t>DataMoat Intelligence Console  |  Center: Kankarbagh, Patna  |  Batch: 12th JEE Advanced (Alpha)  |  Status: 394 Active Students Monitored</a:t>
            </a:r>
          </a:p>
        </p:txBody>
      </p:sp>
      <p:sp>
        <p:nvSpPr>
          <p:cNvPr id="9" name="Rounded Rectangle 8"/>
          <p:cNvSpPr/>
          <p:nvPr/>
        </p:nvSpPr>
        <p:spPr>
          <a:xfrm>
            <a:off x="914400" y="2148840"/>
            <a:ext cx="2011680" cy="73152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176272"/>
            <a:ext cx="1828800" cy="640080"/>
          </a:xfrm>
          <a:prstGeom prst="rect">
            <a:avLst/>
          </a:prstGeom>
          <a:noFill/>
        </p:spPr>
        <p:txBody>
          <a:bodyPr wrap="square">
            <a:spAutoFit/>
          </a:bodyPr>
          <a:lstStyle/>
          <a:p>
            <a:pPr>
              <a:spcAft>
                <a:spcPts val="100"/>
              </a:spcAft>
            </a:pPr>
            <a:r>
              <a:rPr sz="750" b="1" i="0">
                <a:solidFill>
                  <a:srgbClr val="64748B"/>
                </a:solidFill>
                <a:latin typeface="Arial"/>
              </a:rPr>
              <a:t>BATCH ATTRITION RISK</a:t>
            </a:r>
          </a:p>
          <a:p>
            <a:pPr>
              <a:spcAft>
                <a:spcPts val="0"/>
              </a:spcAft>
            </a:pPr>
            <a:r>
              <a:rPr sz="950" b="1" i="0">
                <a:solidFill>
                  <a:srgbClr val="10B981"/>
                </a:solidFill>
                <a:latin typeface="Arial"/>
              </a:rPr>
              <a:t>11.2%  (Low-Moderate)</a:t>
            </a:r>
          </a:p>
        </p:txBody>
      </p:sp>
      <p:sp>
        <p:nvSpPr>
          <p:cNvPr id="11" name="Rounded Rectangle 10"/>
          <p:cNvSpPr/>
          <p:nvPr/>
        </p:nvSpPr>
        <p:spPr>
          <a:xfrm>
            <a:off x="3063240" y="2148840"/>
            <a:ext cx="2011680" cy="73152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54680" y="2176272"/>
            <a:ext cx="1828800" cy="640080"/>
          </a:xfrm>
          <a:prstGeom prst="rect">
            <a:avLst/>
          </a:prstGeom>
          <a:noFill/>
        </p:spPr>
        <p:txBody>
          <a:bodyPr wrap="square">
            <a:spAutoFit/>
          </a:bodyPr>
          <a:lstStyle/>
          <a:p>
            <a:pPr>
              <a:spcAft>
                <a:spcPts val="100"/>
              </a:spcAft>
            </a:pPr>
            <a:r>
              <a:rPr sz="750" b="1" i="0">
                <a:solidFill>
                  <a:srgbClr val="64748B"/>
                </a:solidFill>
                <a:latin typeface="Arial"/>
              </a:rPr>
              <a:t>FEES AT RISK</a:t>
            </a:r>
          </a:p>
          <a:p>
            <a:pPr>
              <a:spcAft>
                <a:spcPts val="0"/>
              </a:spcAft>
            </a:pPr>
            <a:r>
              <a:rPr sz="950" b="1" i="0">
                <a:solidFill>
                  <a:srgbClr val="F59E0B"/>
                </a:solidFill>
                <a:latin typeface="Arial"/>
              </a:rPr>
              <a:t>₹3,60,000  (6 flagged students)</a:t>
            </a:r>
          </a:p>
        </p:txBody>
      </p:sp>
      <p:sp>
        <p:nvSpPr>
          <p:cNvPr id="13" name="Rounded Rectangle 12"/>
          <p:cNvSpPr/>
          <p:nvPr/>
        </p:nvSpPr>
        <p:spPr>
          <a:xfrm>
            <a:off x="5212080" y="2148840"/>
            <a:ext cx="2011680" cy="73152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2176272"/>
            <a:ext cx="1828800" cy="640080"/>
          </a:xfrm>
          <a:prstGeom prst="rect">
            <a:avLst/>
          </a:prstGeom>
          <a:noFill/>
        </p:spPr>
        <p:txBody>
          <a:bodyPr wrap="square">
            <a:spAutoFit/>
          </a:bodyPr>
          <a:lstStyle/>
          <a:p>
            <a:pPr>
              <a:spcAft>
                <a:spcPts val="100"/>
              </a:spcAft>
            </a:pPr>
            <a:r>
              <a:rPr sz="750" b="1" i="0">
                <a:solidFill>
                  <a:srgbClr val="64748B"/>
                </a:solidFill>
                <a:latin typeface="Arial"/>
              </a:rPr>
              <a:t>AVG CONCEPT MASTERY</a:t>
            </a:r>
          </a:p>
          <a:p>
            <a:pPr>
              <a:spcAft>
                <a:spcPts val="0"/>
              </a:spcAft>
            </a:pPr>
            <a:r>
              <a:rPr sz="950" b="1" i="0">
                <a:solidFill>
                  <a:srgbClr val="06B6D4"/>
                </a:solidFill>
                <a:latin typeface="Arial"/>
              </a:rPr>
              <a:t>68.4%  (+4.2% lift this month)</a:t>
            </a:r>
          </a:p>
        </p:txBody>
      </p:sp>
      <p:graphicFrame>
        <p:nvGraphicFramePr>
          <p:cNvPr id="15" name="Table 14"/>
          <p:cNvGraphicFramePr>
            <a:graphicFrameLocks noGrp="1"/>
          </p:cNvGraphicFramePr>
          <p:nvPr/>
        </p:nvGraphicFramePr>
        <p:xfrm>
          <a:off x="914400" y="2971800"/>
          <a:ext cx="6309360" cy="3246120"/>
        </p:xfrm>
        <a:graphic>
          <a:graphicData uri="http://schemas.openxmlformats.org/drawingml/2006/table">
            <a:tbl>
              <a:tblPr firstRow="1" bandRow="1">
                <a:tableStyleId>{5C22544A-7EE6-4342-B048-85BDC9FD1C3A}</a:tableStyleId>
              </a:tblPr>
              <a:tblGrid>
                <a:gridCol w="1188720"/>
                <a:gridCol w="1097280"/>
                <a:gridCol w="1188720"/>
                <a:gridCol w="1737360"/>
                <a:gridCol w="1097280"/>
              </a:tblGrid>
              <a:tr h="649224">
                <a:tc>
                  <a:txBody>
                    <a:bodyPr/>
                    <a:lstStyle/>
                    <a:p>
                      <a:r>
                        <a:rPr sz="800" b="1">
                          <a:solidFill>
                            <a:srgbClr val="06B6D4"/>
                          </a:solidFill>
                          <a:latin typeface="Arial"/>
                        </a:rPr>
                        <a:t>STUDENT TOKEN</a:t>
                      </a:r>
                    </a:p>
                  </a:txBody>
                  <a:tcPr>
                    <a:solidFill>
                      <a:srgbClr val="182235"/>
                    </a:solidFill>
                  </a:tcPr>
                </a:tc>
                <a:tc>
                  <a:txBody>
                    <a:bodyPr/>
                    <a:lstStyle/>
                    <a:p>
                      <a:r>
                        <a:rPr sz="800" b="1">
                          <a:solidFill>
                            <a:srgbClr val="06B6D4"/>
                          </a:solidFill>
                          <a:latin typeface="Arial"/>
                        </a:rPr>
                        <a:t>RISK SCORE</a:t>
                      </a:r>
                    </a:p>
                  </a:txBody>
                  <a:tcPr>
                    <a:solidFill>
                      <a:srgbClr val="182235"/>
                    </a:solidFill>
                  </a:tcPr>
                </a:tc>
                <a:tc>
                  <a:txBody>
                    <a:bodyPr/>
                    <a:lstStyle/>
                    <a:p>
                      <a:r>
                        <a:rPr sz="800" b="1">
                          <a:solidFill>
                            <a:srgbClr val="06B6D4"/>
                          </a:solidFill>
                          <a:latin typeface="Arial"/>
                        </a:rPr>
                        <a:t>MASTERY</a:t>
                      </a:r>
                    </a:p>
                  </a:txBody>
                  <a:tcPr>
                    <a:solidFill>
                      <a:srgbClr val="182235"/>
                    </a:solidFill>
                  </a:tcPr>
                </a:tc>
                <a:tc>
                  <a:txBody>
                    <a:bodyPr/>
                    <a:lstStyle/>
                    <a:p>
                      <a:r>
                        <a:rPr sz="800" b="1">
                          <a:solidFill>
                            <a:srgbClr val="06B6D4"/>
                          </a:solidFill>
                          <a:latin typeface="Arial"/>
                        </a:rPr>
                        <a:t>PRIMARY SHAP DRIVER</a:t>
                      </a:r>
                    </a:p>
                  </a:txBody>
                  <a:tcPr>
                    <a:solidFill>
                      <a:srgbClr val="182235"/>
                    </a:solidFill>
                  </a:tcPr>
                </a:tc>
                <a:tc>
                  <a:txBody>
                    <a:bodyPr/>
                    <a:lstStyle/>
                    <a:p>
                      <a:r>
                        <a:rPr sz="800" b="1">
                          <a:solidFill>
                            <a:srgbClr val="06B6D4"/>
                          </a:solidFill>
                          <a:latin typeface="Arial"/>
                        </a:rPr>
                        <a:t>ACTION</a:t>
                      </a:r>
                    </a:p>
                  </a:txBody>
                  <a:tcPr>
                    <a:solidFill>
                      <a:srgbClr val="182235"/>
                    </a:solidFill>
                  </a:tcPr>
                </a:tc>
              </a:tr>
              <a:tr h="649224">
                <a:tc>
                  <a:txBody>
                    <a:bodyPr/>
                    <a:lstStyle/>
                    <a:p>
                      <a:r>
                        <a:rPr sz="850">
                          <a:solidFill>
                            <a:srgbClr val="E2E8F0"/>
                          </a:solidFill>
                          <a:latin typeface="Arial"/>
                        </a:rPr>
                        <a:t>Candidate #481</a:t>
                      </a:r>
                    </a:p>
                  </a:txBody>
                  <a:tcPr>
                    <a:solidFill>
                      <a:srgbClr val="0F172A"/>
                    </a:solidFill>
                  </a:tcPr>
                </a:tc>
                <a:tc>
                  <a:txBody>
                    <a:bodyPr/>
                    <a:lstStyle/>
                    <a:p>
                      <a:r>
                        <a:rPr sz="850" b="1">
                          <a:solidFill>
                            <a:srgbClr val="EF4444"/>
                          </a:solidFill>
                          <a:latin typeface="Arial"/>
                        </a:rPr>
                        <a:t>82% (High)</a:t>
                      </a:r>
                    </a:p>
                  </a:txBody>
                  <a:tcPr>
                    <a:solidFill>
                      <a:srgbClr val="0F172A"/>
                    </a:solidFill>
                  </a:tcPr>
                </a:tc>
                <a:tc>
                  <a:txBody>
                    <a:bodyPr/>
                    <a:lstStyle/>
                    <a:p>
                      <a:r>
                        <a:rPr sz="850">
                          <a:solidFill>
                            <a:srgbClr val="E2E8F0"/>
                          </a:solidFill>
                          <a:latin typeface="Arial"/>
                        </a:rPr>
                        <a:t>54.2%</a:t>
                      </a:r>
                    </a:p>
                  </a:txBody>
                  <a:tcPr>
                    <a:solidFill>
                      <a:srgbClr val="0F172A"/>
                    </a:solidFill>
                  </a:tcPr>
                </a:tc>
                <a:tc>
                  <a:txBody>
                    <a:bodyPr/>
                    <a:lstStyle/>
                    <a:p>
                      <a:r>
                        <a:rPr sz="850">
                          <a:solidFill>
                            <a:srgbClr val="E2E8F0"/>
                          </a:solidFill>
                          <a:latin typeface="Arial"/>
                        </a:rPr>
                        <a:t>Org Chem drop: -28%</a:t>
                      </a:r>
                    </a:p>
                  </a:txBody>
                  <a:tcPr>
                    <a:solidFill>
                      <a:srgbClr val="0F172A"/>
                    </a:solidFill>
                  </a:tcPr>
                </a:tc>
                <a:tc>
                  <a:txBody>
                    <a:bodyPr/>
                    <a:lstStyle/>
                    <a:p>
                      <a:r>
                        <a:rPr sz="850" b="1">
                          <a:solidFill>
                            <a:srgbClr val="06B6D4"/>
                          </a:solidFill>
                          <a:latin typeface="Arial"/>
                        </a:rPr>
                        <a:t>[ Review Plan ]</a:t>
                      </a:r>
                    </a:p>
                  </a:txBody>
                  <a:tcPr>
                    <a:solidFill>
                      <a:srgbClr val="0F172A"/>
                    </a:solidFill>
                  </a:tcPr>
                </a:tc>
              </a:tr>
              <a:tr h="649224">
                <a:tc>
                  <a:txBody>
                    <a:bodyPr/>
                    <a:lstStyle/>
                    <a:p>
                      <a:r>
                        <a:rPr sz="850">
                          <a:solidFill>
                            <a:srgbClr val="E2E8F0"/>
                          </a:solidFill>
                          <a:latin typeface="Arial"/>
                        </a:rPr>
                        <a:t>Candidate #219</a:t>
                      </a:r>
                    </a:p>
                  </a:txBody>
                  <a:tcPr>
                    <a:solidFill>
                      <a:srgbClr val="070B14"/>
                    </a:solidFill>
                  </a:tcPr>
                </a:tc>
                <a:tc>
                  <a:txBody>
                    <a:bodyPr/>
                    <a:lstStyle/>
                    <a:p>
                      <a:r>
                        <a:rPr sz="850" b="1">
                          <a:solidFill>
                            <a:srgbClr val="F59E0B"/>
                          </a:solidFill>
                          <a:latin typeface="Arial"/>
                        </a:rPr>
                        <a:t>64% (Mod)</a:t>
                      </a:r>
                    </a:p>
                  </a:txBody>
                  <a:tcPr>
                    <a:solidFill>
                      <a:srgbClr val="070B14"/>
                    </a:solidFill>
                  </a:tcPr>
                </a:tc>
                <a:tc>
                  <a:txBody>
                    <a:bodyPr/>
                    <a:lstStyle/>
                    <a:p>
                      <a:r>
                        <a:rPr sz="850">
                          <a:solidFill>
                            <a:srgbClr val="E2E8F0"/>
                          </a:solidFill>
                          <a:latin typeface="Arial"/>
                        </a:rPr>
                        <a:t>61.0%</a:t>
                      </a:r>
                    </a:p>
                  </a:txBody>
                  <a:tcPr>
                    <a:solidFill>
                      <a:srgbClr val="070B14"/>
                    </a:solidFill>
                  </a:tcPr>
                </a:tc>
                <a:tc>
                  <a:txBody>
                    <a:bodyPr/>
                    <a:lstStyle/>
                    <a:p>
                      <a:r>
                        <a:rPr sz="850">
                          <a:solidFill>
                            <a:srgbClr val="E2E8F0"/>
                          </a:solidFill>
                          <a:latin typeface="Arial"/>
                        </a:rPr>
                        <a:t>Attn drop: -18% (4 days)</a:t>
                      </a:r>
                    </a:p>
                  </a:txBody>
                  <a:tcPr>
                    <a:solidFill>
                      <a:srgbClr val="070B14"/>
                    </a:solidFill>
                  </a:tcPr>
                </a:tc>
                <a:tc>
                  <a:txBody>
                    <a:bodyPr/>
                    <a:lstStyle/>
                    <a:p>
                      <a:r>
                        <a:rPr sz="850" b="1">
                          <a:solidFill>
                            <a:srgbClr val="06B6D4"/>
                          </a:solidFill>
                          <a:latin typeface="Arial"/>
                        </a:rPr>
                        <a:t>[ Review Plan ]</a:t>
                      </a:r>
                    </a:p>
                  </a:txBody>
                  <a:tcPr>
                    <a:solidFill>
                      <a:srgbClr val="070B14"/>
                    </a:solidFill>
                  </a:tcPr>
                </a:tc>
              </a:tr>
              <a:tr h="649224">
                <a:tc>
                  <a:txBody>
                    <a:bodyPr/>
                    <a:lstStyle/>
                    <a:p>
                      <a:r>
                        <a:rPr sz="850">
                          <a:solidFill>
                            <a:srgbClr val="E2E8F0"/>
                          </a:solidFill>
                          <a:latin typeface="Arial"/>
                        </a:rPr>
                        <a:t>Candidate #504</a:t>
                      </a:r>
                    </a:p>
                  </a:txBody>
                  <a:tcPr>
                    <a:solidFill>
                      <a:srgbClr val="070B14"/>
                    </a:solidFill>
                  </a:tcPr>
                </a:tc>
                <a:tc>
                  <a:txBody>
                    <a:bodyPr/>
                    <a:lstStyle/>
                    <a:p>
                      <a:r>
                        <a:rPr sz="850" b="1">
                          <a:solidFill>
                            <a:srgbClr val="F59E0B"/>
                          </a:solidFill>
                          <a:latin typeface="Arial"/>
                        </a:rPr>
                        <a:t>59% (Mod)</a:t>
                      </a:r>
                    </a:p>
                  </a:txBody>
                  <a:tcPr>
                    <a:solidFill>
                      <a:srgbClr val="070B14"/>
                    </a:solidFill>
                  </a:tcPr>
                </a:tc>
                <a:tc>
                  <a:txBody>
                    <a:bodyPr/>
                    <a:lstStyle/>
                    <a:p>
                      <a:r>
                        <a:rPr sz="850">
                          <a:solidFill>
                            <a:srgbClr val="E2E8F0"/>
                          </a:solidFill>
                          <a:latin typeface="Arial"/>
                        </a:rPr>
                        <a:t>63.5%</a:t>
                      </a:r>
                    </a:p>
                  </a:txBody>
                  <a:tcPr>
                    <a:solidFill>
                      <a:srgbClr val="070B14"/>
                    </a:solidFill>
                  </a:tcPr>
                </a:tc>
                <a:tc>
                  <a:txBody>
                    <a:bodyPr/>
                    <a:lstStyle/>
                    <a:p>
                      <a:r>
                        <a:rPr sz="850">
                          <a:solidFill>
                            <a:srgbClr val="E2E8F0"/>
                          </a:solidFill>
                          <a:latin typeface="Arial"/>
                        </a:rPr>
                        <a:t>Calculus Integration: -22%</a:t>
                      </a:r>
                    </a:p>
                  </a:txBody>
                  <a:tcPr>
                    <a:solidFill>
                      <a:srgbClr val="070B14"/>
                    </a:solidFill>
                  </a:tcPr>
                </a:tc>
                <a:tc>
                  <a:txBody>
                    <a:bodyPr/>
                    <a:lstStyle/>
                    <a:p>
                      <a:r>
                        <a:rPr sz="850" b="1">
                          <a:solidFill>
                            <a:srgbClr val="06B6D4"/>
                          </a:solidFill>
                          <a:latin typeface="Arial"/>
                        </a:rPr>
                        <a:t>[ Review Plan ]</a:t>
                      </a:r>
                    </a:p>
                  </a:txBody>
                  <a:tcPr>
                    <a:solidFill>
                      <a:srgbClr val="070B14"/>
                    </a:solidFill>
                  </a:tcPr>
                </a:tc>
              </a:tr>
              <a:tr h="649224">
                <a:tc>
                  <a:txBody>
                    <a:bodyPr/>
                    <a:lstStyle/>
                    <a:p>
                      <a:r>
                        <a:rPr sz="850">
                          <a:solidFill>
                            <a:srgbClr val="E2E8F0"/>
                          </a:solidFill>
                          <a:latin typeface="Arial"/>
                        </a:rPr>
                        <a:t>Candidate #112</a:t>
                      </a:r>
                    </a:p>
                  </a:txBody>
                  <a:tcPr>
                    <a:solidFill>
                      <a:srgbClr val="070B14"/>
                    </a:solidFill>
                  </a:tcPr>
                </a:tc>
                <a:tc>
                  <a:txBody>
                    <a:bodyPr/>
                    <a:lstStyle/>
                    <a:p>
                      <a:r>
                        <a:rPr sz="850" b="1">
                          <a:solidFill>
                            <a:srgbClr val="10B981"/>
                          </a:solidFill>
                          <a:latin typeface="Arial"/>
                        </a:rPr>
                        <a:t>31% (Low)</a:t>
                      </a:r>
                    </a:p>
                  </a:txBody>
                  <a:tcPr>
                    <a:solidFill>
                      <a:srgbClr val="070B14"/>
                    </a:solidFill>
                  </a:tcPr>
                </a:tc>
                <a:tc>
                  <a:txBody>
                    <a:bodyPr/>
                    <a:lstStyle/>
                    <a:p>
                      <a:r>
                        <a:rPr sz="850">
                          <a:solidFill>
                            <a:srgbClr val="E2E8F0"/>
                          </a:solidFill>
                          <a:latin typeface="Arial"/>
                        </a:rPr>
                        <a:t>78.2%</a:t>
                      </a:r>
                    </a:p>
                  </a:txBody>
                  <a:tcPr>
                    <a:solidFill>
                      <a:srgbClr val="070B14"/>
                    </a:solidFill>
                  </a:tcPr>
                </a:tc>
                <a:tc>
                  <a:txBody>
                    <a:bodyPr/>
                    <a:lstStyle/>
                    <a:p>
                      <a:r>
                        <a:rPr sz="850">
                          <a:solidFill>
                            <a:srgbClr val="E2E8F0"/>
                          </a:solidFill>
                          <a:latin typeface="Arial"/>
                        </a:rPr>
                        <a:t>Stable trajectory</a:t>
                      </a:r>
                    </a:p>
                  </a:txBody>
                  <a:tcPr>
                    <a:solidFill>
                      <a:srgbClr val="070B14"/>
                    </a:solidFill>
                  </a:tcPr>
                </a:tc>
                <a:tc>
                  <a:txBody>
                    <a:bodyPr/>
                    <a:lstStyle/>
                    <a:p>
                      <a:r>
                        <a:rPr sz="850" b="1">
                          <a:solidFill>
                            <a:srgbClr val="06B6D4"/>
                          </a:solidFill>
                          <a:latin typeface="Arial"/>
                        </a:rPr>
                        <a:t>[ Monitor ]</a:t>
                      </a:r>
                    </a:p>
                  </a:txBody>
                  <a:tcPr>
                    <a:solidFill>
                      <a:srgbClr val="070B14"/>
                    </a:solidFill>
                  </a:tcPr>
                </a:tc>
              </a:tr>
            </a:tbl>
          </a:graphicData>
        </a:graphic>
      </p:graphicFrame>
      <p:sp>
        <p:nvSpPr>
          <p:cNvPr id="16" name="Rounded Rectangle 15"/>
          <p:cNvSpPr/>
          <p:nvPr/>
        </p:nvSpPr>
        <p:spPr>
          <a:xfrm>
            <a:off x="7360920" y="2148840"/>
            <a:ext cx="3931920" cy="4069080"/>
          </a:xfrm>
          <a:prstGeom prst="roundRect">
            <a:avLst/>
          </a:prstGeom>
          <a:solidFill>
            <a:srgbClr val="0F172A"/>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79" y="2240280"/>
            <a:ext cx="3657600" cy="3886200"/>
          </a:xfrm>
          <a:prstGeom prst="rect">
            <a:avLst/>
          </a:prstGeom>
          <a:noFill/>
        </p:spPr>
        <p:txBody>
          <a:bodyPr wrap="square">
            <a:spAutoFit/>
          </a:bodyPr>
          <a:lstStyle/>
          <a:p>
            <a:pPr>
              <a:spcAft>
                <a:spcPts val="200"/>
              </a:spcAft>
            </a:pPr>
            <a:r>
              <a:rPr sz="1000" b="1" i="0">
                <a:solidFill>
                  <a:srgbClr val="38BDF8"/>
                </a:solidFill>
                <a:latin typeface="Arial"/>
              </a:rPr>
              <a:t>DIAGNOSTIC ACTION DRAWER: CANDIDATE #481</a:t>
            </a:r>
          </a:p>
          <a:p>
            <a:pPr>
              <a:spcAft>
                <a:spcPts val="600"/>
              </a:spcAft>
            </a:pPr>
            <a:r>
              <a:rPr sz="850" b="0" i="0">
                <a:solidFill>
                  <a:srgbClr val="94A3B8"/>
                </a:solidFill>
                <a:latin typeface="Arial"/>
              </a:rPr>
              <a:t>Target: JEE 2027 | Batch Alpha | Predicted: [83.7% - 97.2%]</a:t>
            </a:r>
          </a:p>
          <a:p>
            <a:pPr>
              <a:spcAft>
                <a:spcPts val="200"/>
              </a:spcAft>
            </a:pPr>
            <a:r>
              <a:rPr sz="900" b="1" i="0">
                <a:solidFill>
                  <a:srgbClr val="FFFFFF"/>
                </a:solidFill>
                <a:latin typeface="Arial"/>
              </a:rPr>
              <a:t>TreeSHAP Factor Breakdown:</a:t>
            </a:r>
          </a:p>
          <a:p>
            <a:pPr>
              <a:spcAft>
                <a:spcPts val="600"/>
              </a:spcAft>
            </a:pPr>
            <a:r>
              <a:rPr sz="850" b="0" i="0">
                <a:solidFill>
                  <a:srgbClr val="E2E8F0"/>
                </a:solidFill>
                <a:latin typeface="Arial"/>
              </a:rPr>
              <a:t>1. Organic Chem (SN1/SN2) drop: -28% (Weight: -0.42)</a:t>
            </a:r>
            <a:br/>
            <a:r>
              <a:rPr sz="850" b="0" i="0">
                <a:solidFill>
                  <a:srgbClr val="E2E8F0"/>
                </a:solidFill>
                <a:latin typeface="Arial"/>
              </a:rPr>
              <a:t>2. Missed 4 morning sessions (Weight: -0.26)</a:t>
            </a:r>
            <a:br/>
            <a:r>
              <a:rPr sz="850" b="0" i="0">
                <a:solidFill>
                  <a:srgbClr val="E2E8F0"/>
                </a:solidFill>
                <a:latin typeface="Arial"/>
              </a:rPr>
              <a:t>3. Fee Installment #3 overdue by 12 days (Weight: -0.14)</a:t>
            </a:r>
          </a:p>
          <a:p>
            <a:pPr>
              <a:spcAft>
                <a:spcPts val="200"/>
              </a:spcAft>
            </a:pPr>
            <a:r>
              <a:rPr sz="900" b="1" i="0">
                <a:solidFill>
                  <a:srgbClr val="10B981"/>
                </a:solidFill>
                <a:latin typeface="Arial"/>
              </a:rPr>
              <a:t>Prescriptive AI Remedial Action:</a:t>
            </a:r>
          </a:p>
          <a:p>
            <a:pPr>
              <a:spcAft>
                <a:spcPts val="800"/>
              </a:spcAft>
            </a:pPr>
            <a:r>
              <a:rPr sz="850" b="0" i="0">
                <a:solidFill>
                  <a:srgbClr val="E2E8F0"/>
                </a:solidFill>
                <a:latin typeface="Arial"/>
              </a:rPr>
              <a:t>• Assign 15-Question Reaction Mechanism Catch-up Sheet</a:t>
            </a:r>
            <a:br/>
            <a:r>
              <a:rPr sz="850" b="0" i="0">
                <a:solidFill>
                  <a:srgbClr val="E2E8F0"/>
                </a:solidFill>
                <a:latin typeface="Arial"/>
              </a:rPr>
              <a:t>• Schedule 15-min Doubt Session with Mentor Sharma</a:t>
            </a:r>
            <a:br/>
            <a:r>
              <a:rPr sz="850" b="0" i="0">
                <a:solidFill>
                  <a:srgbClr val="E2E8F0"/>
                </a:solidFill>
                <a:latin typeface="Arial"/>
              </a:rPr>
              <a:t>• 1-Click Send Bilingual WhatsApp Card to Parents</a:t>
            </a:r>
          </a:p>
          <a:p>
            <a:pPr>
              <a:spcAft>
                <a:spcPts val="0"/>
              </a:spcAft>
            </a:pPr>
            <a:r>
              <a:rPr sz="900" b="1" i="0">
                <a:solidFill>
                  <a:srgbClr val="38BDF8"/>
                </a:solidFill>
                <a:latin typeface="Arial"/>
              </a:rPr>
              <a:t>&gt;&gt;&gt; [ EXECUTE INTERVENTION &amp; SEND WHATSAPP ] &lt;&lt;&lt;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lIns="0" rIns="0" tIns="0" bIns="0">
            <a:spAutoFit/>
          </a:bodyPr>
          <a:lstStyle/>
          <a:p>
            <a:pPr>
              <a:spcAft>
                <a:spcPts val="0"/>
              </a:spcAft>
            </a:pPr>
            <a:r>
              <a:rPr sz="950" b="1" i="0">
                <a:solidFill>
                  <a:srgbClr val="06B6D4"/>
                </a:solidFill>
                <a:latin typeface="Arial"/>
              </a:rPr>
              <a:t>AI/ML METHODOLOGY · PREDICTIVE RIGOR VS EXPLANATION</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spcAft>
                <a:spcPts val="0"/>
              </a:spcAft>
            </a:pPr>
            <a:r>
              <a:rPr sz="2100" b="1" i="0">
                <a:solidFill>
                  <a:srgbClr val="FFFFFF"/>
                </a:solidFill>
                <a:latin typeface="Arial"/>
              </a:rPr>
              <a:t>Why Statistical ML Estimates Risk, and Generative AI Only Explains</a:t>
            </a:r>
          </a:p>
        </p:txBody>
      </p:sp>
      <p:sp>
        <p:nvSpPr>
          <p:cNvPr id="5" name="TextBox 4"/>
          <p:cNvSpPr txBox="1"/>
          <p:nvPr/>
        </p:nvSpPr>
        <p:spPr>
          <a:xfrm>
            <a:off x="731520" y="1115568"/>
            <a:ext cx="10698480" cy="320040"/>
          </a:xfrm>
          <a:prstGeom prst="rect">
            <a:avLst/>
          </a:prstGeom>
          <a:noFill/>
        </p:spPr>
        <p:txBody>
          <a:bodyPr wrap="square" lIns="0" rIns="0" tIns="0" bIns="0">
            <a:spAutoFit/>
          </a:bodyPr>
          <a:lstStyle/>
          <a:p>
            <a:pPr>
              <a:spcAft>
                <a:spcPts val="0"/>
              </a:spcAft>
            </a:pPr>
            <a:r>
              <a:rPr sz="1150" b="0" i="0">
                <a:solidFill>
                  <a:srgbClr val="94A3B8"/>
                </a:solidFill>
                <a:latin typeface="Arial"/>
              </a:rPr>
              <a:t>Decoupling tabular risk prediction from natural language synthesis to eliminate hallucinations.</a:t>
            </a:r>
          </a:p>
        </p:txBody>
      </p:sp>
      <p:sp>
        <p:nvSpPr>
          <p:cNvPr id="6" name="Rounded Rectangle 5"/>
          <p:cNvSpPr/>
          <p:nvPr/>
        </p:nvSpPr>
        <p:spPr>
          <a:xfrm>
            <a:off x="731520" y="1645920"/>
            <a:ext cx="2560320" cy="347472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56032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2286000" cy="2743200"/>
          </a:xfrm>
          <a:prstGeom prst="rect">
            <a:avLst/>
          </a:prstGeom>
          <a:noFill/>
        </p:spPr>
        <p:txBody>
          <a:bodyPr wrap="square">
            <a:spAutoFit/>
          </a:bodyPr>
          <a:lstStyle/>
          <a:p>
            <a:pPr>
              <a:spcAft>
                <a:spcPts val="200"/>
              </a:spcAft>
            </a:pPr>
            <a:r>
              <a:rPr sz="1050" b="1" i="0">
                <a:solidFill>
                  <a:srgbClr val="06B6D4"/>
                </a:solidFill>
                <a:latin typeface="Arial"/>
              </a:rPr>
              <a:t>1. DESCRIPTIVE SIGNALS</a:t>
            </a:r>
          </a:p>
          <a:p>
            <a:pPr>
              <a:spcAft>
                <a:spcPts val="600"/>
              </a:spcAft>
            </a:pPr>
            <a:r>
              <a:rPr sz="850" b="1" i="0">
                <a:solidFill>
                  <a:srgbClr val="94A3B8"/>
                </a:solidFill>
                <a:latin typeface="Arial"/>
              </a:rPr>
              <a:t>DATA CLEANING &amp; FEATURE STORE</a:t>
            </a:r>
          </a:p>
          <a:p>
            <a:pPr>
              <a:spcAft>
                <a:spcPts val="0"/>
              </a:spcAft>
            </a:pPr>
            <a:r>
              <a:rPr sz="950" b="0" i="0">
                <a:solidFill>
                  <a:srgbClr val="E2E8F0"/>
                </a:solidFill>
                <a:latin typeface="Arial"/>
              </a:rPr>
              <a:t>• 14-day attendance rate of change (Delta Attn_14d).</a:t>
            </a:r>
            <a:br/>
            <a:br/>
            <a:r>
              <a:rPr sz="950" b="0" i="0">
                <a:solidFill>
                  <a:srgbClr val="E2E8F0"/>
                </a:solidFill>
                <a:latin typeface="Arial"/>
              </a:rPr>
              <a:t>• Mock score drop relative to batch distribution.</a:t>
            </a:r>
            <a:br/>
            <a:br/>
            <a:r>
              <a:rPr sz="950" b="0" i="0">
                <a:solidFill>
                  <a:srgbClr val="E2E8F0"/>
                </a:solidFill>
                <a:latin typeface="Arial"/>
              </a:rPr>
              <a:t>• Fee installment delay index &amp; homework completion rate.</a:t>
            </a:r>
          </a:p>
        </p:txBody>
      </p:sp>
      <p:sp>
        <p:nvSpPr>
          <p:cNvPr id="9" name="Rounded Rectangle 8"/>
          <p:cNvSpPr/>
          <p:nvPr/>
        </p:nvSpPr>
        <p:spPr>
          <a:xfrm>
            <a:off x="868680" y="4663440"/>
            <a:ext cx="2286000" cy="347472"/>
          </a:xfrm>
          <a:prstGeom prst="roundRect">
            <a:avLst/>
          </a:prstGeom>
          <a:solidFill>
            <a:srgbClr val="182235"/>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690872"/>
            <a:ext cx="2286000" cy="292608"/>
          </a:xfrm>
          <a:prstGeom prst="rect">
            <a:avLst/>
          </a:prstGeom>
          <a:noFill/>
        </p:spPr>
        <p:txBody>
          <a:bodyPr wrap="none">
            <a:spAutoFit/>
          </a:bodyPr>
          <a:lstStyle/>
          <a:p>
            <a:pPr>
              <a:spcAft>
                <a:spcPts val="0"/>
              </a:spcAft>
            </a:pPr>
            <a:r>
              <a:rPr sz="800" b="1" i="0">
                <a:solidFill>
                  <a:srgbClr val="06B6D4"/>
                </a:solidFill>
                <a:latin typeface="Arial"/>
              </a:rPr>
              <a:t>INPUT: Time-Series Features</a:t>
            </a:r>
          </a:p>
        </p:txBody>
      </p:sp>
      <p:sp>
        <p:nvSpPr>
          <p:cNvPr id="11" name="Rounded Rectangle 10"/>
          <p:cNvSpPr/>
          <p:nvPr/>
        </p:nvSpPr>
        <p:spPr>
          <a:xfrm>
            <a:off x="3429000" y="1645920"/>
            <a:ext cx="2560320" cy="347472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645920"/>
            <a:ext cx="2560320"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1783080"/>
            <a:ext cx="2286000" cy="2743200"/>
          </a:xfrm>
          <a:prstGeom prst="rect">
            <a:avLst/>
          </a:prstGeom>
          <a:noFill/>
        </p:spPr>
        <p:txBody>
          <a:bodyPr wrap="square">
            <a:spAutoFit/>
          </a:bodyPr>
          <a:lstStyle/>
          <a:p>
            <a:pPr>
              <a:spcAft>
                <a:spcPts val="200"/>
              </a:spcAft>
            </a:pPr>
            <a:r>
              <a:rPr sz="1050" b="1" i="0">
                <a:solidFill>
                  <a:srgbClr val="818CF8"/>
                </a:solidFill>
                <a:latin typeface="Arial"/>
              </a:rPr>
              <a:t>2. PSYCHOMETRIC MODELING</a:t>
            </a:r>
          </a:p>
          <a:p>
            <a:pPr>
              <a:spcAft>
                <a:spcPts val="600"/>
              </a:spcAft>
            </a:pPr>
            <a:r>
              <a:rPr sz="850" b="1" i="0">
                <a:solidFill>
                  <a:srgbClr val="94A3B8"/>
                </a:solidFill>
                <a:latin typeface="Arial"/>
              </a:rPr>
              <a:t>2PL IRT &amp; BAYESIAN KNOWLEDGE TRACING</a:t>
            </a:r>
          </a:p>
          <a:p>
            <a:pPr>
              <a:spcAft>
                <a:spcPts val="0"/>
              </a:spcAft>
            </a:pPr>
            <a:r>
              <a:rPr sz="950" b="0" i="0">
                <a:solidFill>
                  <a:srgbClr val="E2E8F0"/>
                </a:solidFill>
                <a:latin typeface="Arial"/>
              </a:rPr>
              <a:t>• 2PL IRT: Decouples student ability (theta) from question difficulty (b) and discrimination (a).</a:t>
            </a:r>
            <a:br/>
            <a:br/>
            <a:r>
              <a:rPr sz="950" b="0" i="0">
                <a:solidFill>
                  <a:srgbClr val="E2E8F0"/>
                </a:solidFill>
                <a:latin typeface="Arial"/>
              </a:rPr>
              <a:t>• BKT: Dynamic concept mastery probability P(L_t) across JEE/NEET topics.</a:t>
            </a:r>
          </a:p>
        </p:txBody>
      </p:sp>
      <p:sp>
        <p:nvSpPr>
          <p:cNvPr id="14" name="Rounded Rectangle 13"/>
          <p:cNvSpPr/>
          <p:nvPr/>
        </p:nvSpPr>
        <p:spPr>
          <a:xfrm>
            <a:off x="3566160" y="4663440"/>
            <a:ext cx="2286000" cy="347472"/>
          </a:xfrm>
          <a:prstGeom prst="roundRect">
            <a:avLst/>
          </a:prstGeom>
          <a:solidFill>
            <a:srgbClr val="182235"/>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4690872"/>
            <a:ext cx="2286000" cy="292608"/>
          </a:xfrm>
          <a:prstGeom prst="rect">
            <a:avLst/>
          </a:prstGeom>
          <a:noFill/>
        </p:spPr>
        <p:txBody>
          <a:bodyPr wrap="none">
            <a:spAutoFit/>
          </a:bodyPr>
          <a:lstStyle/>
          <a:p>
            <a:pPr>
              <a:spcAft>
                <a:spcPts val="0"/>
              </a:spcAft>
            </a:pPr>
            <a:r>
              <a:rPr sz="800" b="1" i="0">
                <a:solidFill>
                  <a:srgbClr val="818CF8"/>
                </a:solidFill>
                <a:latin typeface="Arial"/>
              </a:rPr>
              <a:t>MATH: 2PL IRT Latent Ability</a:t>
            </a:r>
          </a:p>
        </p:txBody>
      </p:sp>
      <p:sp>
        <p:nvSpPr>
          <p:cNvPr id="16" name="Rounded Rectangle 15"/>
          <p:cNvSpPr/>
          <p:nvPr/>
        </p:nvSpPr>
        <p:spPr>
          <a:xfrm>
            <a:off x="6126480" y="1645920"/>
            <a:ext cx="2560320" cy="347472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1645920"/>
            <a:ext cx="256032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1783080"/>
            <a:ext cx="2286000" cy="2743200"/>
          </a:xfrm>
          <a:prstGeom prst="rect">
            <a:avLst/>
          </a:prstGeom>
          <a:noFill/>
        </p:spPr>
        <p:txBody>
          <a:bodyPr wrap="square">
            <a:spAutoFit/>
          </a:bodyPr>
          <a:lstStyle/>
          <a:p>
            <a:pPr>
              <a:spcAft>
                <a:spcPts val="200"/>
              </a:spcAft>
            </a:pPr>
            <a:r>
              <a:rPr sz="1050" b="1" i="0">
                <a:solidFill>
                  <a:srgbClr val="F59E0B"/>
                </a:solidFill>
                <a:latin typeface="Arial"/>
              </a:rPr>
              <a:t>3. SUPERVISED RISK ESTIMATION</a:t>
            </a:r>
          </a:p>
          <a:p>
            <a:pPr>
              <a:spcAft>
                <a:spcPts val="600"/>
              </a:spcAft>
            </a:pPr>
            <a:r>
              <a:rPr sz="850" b="1" i="0">
                <a:solidFill>
                  <a:srgbClr val="94A3B8"/>
                </a:solidFill>
                <a:latin typeface="Arial"/>
              </a:rPr>
              <a:t>CALIBRATED LIGHTGBM (NOT LLMS)</a:t>
            </a:r>
          </a:p>
          <a:p>
            <a:pPr>
              <a:spcAft>
                <a:spcPts val="0"/>
              </a:spcAft>
            </a:pPr>
            <a:r>
              <a:rPr sz="950" b="0" i="0">
                <a:solidFill>
                  <a:srgbClr val="E2E8F0"/>
                </a:solidFill>
                <a:latin typeface="Arial"/>
              </a:rPr>
              <a:t>• Calibrated Classifier: Platt scaling guarantees P in [0.0, 1.0] reflects empirical dropout rate.</a:t>
            </a:r>
            <a:br/>
            <a:br/>
            <a:r>
              <a:rPr sz="950" b="0" i="0">
                <a:solidFill>
                  <a:srgbClr val="E2E8F0"/>
                </a:solidFill>
                <a:latin typeface="Arial"/>
              </a:rPr>
              <a:t>• TreeSHAP: Exact mathematical root-cause attribution without hallucinations.</a:t>
            </a:r>
          </a:p>
        </p:txBody>
      </p:sp>
      <p:sp>
        <p:nvSpPr>
          <p:cNvPr id="19" name="Rounded Rectangle 18"/>
          <p:cNvSpPr/>
          <p:nvPr/>
        </p:nvSpPr>
        <p:spPr>
          <a:xfrm>
            <a:off x="6263640" y="4663440"/>
            <a:ext cx="2286000" cy="347472"/>
          </a:xfrm>
          <a:prstGeom prst="roundRect">
            <a:avLst/>
          </a:prstGeom>
          <a:solidFill>
            <a:srgbClr val="182235"/>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4690872"/>
            <a:ext cx="2286000" cy="292608"/>
          </a:xfrm>
          <a:prstGeom prst="rect">
            <a:avLst/>
          </a:prstGeom>
          <a:noFill/>
        </p:spPr>
        <p:txBody>
          <a:bodyPr wrap="none">
            <a:spAutoFit/>
          </a:bodyPr>
          <a:lstStyle/>
          <a:p>
            <a:pPr>
              <a:spcAft>
                <a:spcPts val="0"/>
              </a:spcAft>
            </a:pPr>
            <a:r>
              <a:rPr sz="800" b="1" i="0">
                <a:solidFill>
                  <a:srgbClr val="F59E0B"/>
                </a:solidFill>
                <a:latin typeface="Arial"/>
              </a:rPr>
              <a:t>ROC-AUC: 0.89 | Brier: 0.09</a:t>
            </a:r>
          </a:p>
        </p:txBody>
      </p:sp>
      <p:sp>
        <p:nvSpPr>
          <p:cNvPr id="21" name="Rounded Rectangle 20"/>
          <p:cNvSpPr/>
          <p:nvPr/>
        </p:nvSpPr>
        <p:spPr>
          <a:xfrm>
            <a:off x="8823960" y="1645920"/>
            <a:ext cx="2560320" cy="347472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23960" y="1645920"/>
            <a:ext cx="256032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0" y="1783080"/>
            <a:ext cx="2286000" cy="2743200"/>
          </a:xfrm>
          <a:prstGeom prst="rect">
            <a:avLst/>
          </a:prstGeom>
          <a:noFill/>
        </p:spPr>
        <p:txBody>
          <a:bodyPr wrap="square">
            <a:spAutoFit/>
          </a:bodyPr>
          <a:lstStyle/>
          <a:p>
            <a:pPr>
              <a:spcAft>
                <a:spcPts val="200"/>
              </a:spcAft>
            </a:pPr>
            <a:r>
              <a:rPr sz="1050" b="1" i="0">
                <a:solidFill>
                  <a:srgbClr val="10B981"/>
                </a:solidFill>
                <a:latin typeface="Arial"/>
              </a:rPr>
              <a:t>4. DE-IDENTIFIED GENERATION</a:t>
            </a:r>
          </a:p>
          <a:p>
            <a:pPr>
              <a:spcAft>
                <a:spcPts val="600"/>
              </a:spcAft>
            </a:pPr>
            <a:r>
              <a:rPr sz="850" b="1" i="0">
                <a:solidFill>
                  <a:srgbClr val="94A3B8"/>
                </a:solidFill>
                <a:latin typeface="Arial"/>
              </a:rPr>
              <a:t>BILINGUAL PARENT &amp; REMEDIAL SYNTHESIS</a:t>
            </a:r>
          </a:p>
          <a:p>
            <a:pPr>
              <a:spcAft>
                <a:spcPts val="0"/>
              </a:spcAft>
            </a:pPr>
            <a:r>
              <a:rPr sz="950" b="0" i="0">
                <a:solidFill>
                  <a:srgbClr val="E2E8F0"/>
                </a:solidFill>
                <a:latin typeface="Arial"/>
              </a:rPr>
              <a:t>• Zero PII Boundary: Name &amp; phone stripped; sends tokenized features only.</a:t>
            </a:r>
            <a:br/>
            <a:br/>
            <a:r>
              <a:rPr sz="950" b="0" i="0">
                <a:solidFill>
                  <a:srgbClr val="E2E8F0"/>
                </a:solidFill>
                <a:latin typeface="Arial"/>
              </a:rPr>
              <a:t>• Output: Empathetic WhatsApp progress cards in Hindi/English + remedial worksheets.</a:t>
            </a:r>
          </a:p>
        </p:txBody>
      </p:sp>
      <p:sp>
        <p:nvSpPr>
          <p:cNvPr id="24" name="Rounded Rectangle 23"/>
          <p:cNvSpPr/>
          <p:nvPr/>
        </p:nvSpPr>
        <p:spPr>
          <a:xfrm>
            <a:off x="8961120" y="4663440"/>
            <a:ext cx="2286000" cy="347472"/>
          </a:xfrm>
          <a:prstGeom prst="roundRect">
            <a:avLst/>
          </a:prstGeom>
          <a:solidFill>
            <a:srgbClr val="18223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0" y="4690872"/>
            <a:ext cx="2286000" cy="292608"/>
          </a:xfrm>
          <a:prstGeom prst="rect">
            <a:avLst/>
          </a:prstGeom>
          <a:noFill/>
        </p:spPr>
        <p:txBody>
          <a:bodyPr wrap="none">
            <a:spAutoFit/>
          </a:bodyPr>
          <a:lstStyle/>
          <a:p>
            <a:pPr>
              <a:spcAft>
                <a:spcPts val="0"/>
              </a:spcAft>
            </a:pPr>
            <a:r>
              <a:rPr sz="800" b="1" i="0">
                <a:solidFill>
                  <a:srgbClr val="10B981"/>
                </a:solidFill>
                <a:latin typeface="Arial"/>
              </a:rPr>
              <a:t>OUTPUT: Bilingual Action Plan</a:t>
            </a:r>
          </a:p>
        </p:txBody>
      </p:sp>
      <p:sp>
        <p:nvSpPr>
          <p:cNvPr id="26" name="Rounded Rectangle 25"/>
          <p:cNvSpPr/>
          <p:nvPr/>
        </p:nvSpPr>
        <p:spPr>
          <a:xfrm>
            <a:off x="731520" y="5257800"/>
            <a:ext cx="10698480" cy="1143000"/>
          </a:xfrm>
          <a:prstGeom prst="roundRect">
            <a:avLst/>
          </a:prstGeom>
          <a:solidFill>
            <a:srgbClr val="182235"/>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349240"/>
            <a:ext cx="10332720" cy="960120"/>
          </a:xfrm>
          <a:prstGeom prst="rect">
            <a:avLst/>
          </a:prstGeom>
          <a:noFill/>
        </p:spPr>
        <p:txBody>
          <a:bodyPr wrap="square">
            <a:spAutoFit/>
          </a:bodyPr>
          <a:lstStyle/>
          <a:p>
            <a:pPr>
              <a:spcAft>
                <a:spcPts val="200"/>
              </a:spcAft>
            </a:pPr>
            <a:r>
              <a:rPr sz="1000" b="1" i="0">
                <a:solidFill>
                  <a:srgbClr val="06B6D4"/>
                </a:solidFill>
                <a:latin typeface="Arial"/>
              </a:rPr>
              <a:t>EMPIRICAL MODEL VALIDATION &amp; HONEST LIMITATIONS</a:t>
            </a:r>
          </a:p>
          <a:p>
            <a:pPr>
              <a:spcAft>
                <a:spcPts val="0"/>
              </a:spcAft>
            </a:pPr>
            <a:r>
              <a:rPr sz="900" b="0" i="0">
                <a:solidFill>
                  <a:srgbClr val="E2E8F0"/>
                </a:solidFill>
                <a:latin typeface="Arial"/>
              </a:rPr>
              <a:t>• Model Evaluation: Evaluated on synthetic 1,200-student benchmark (Section 08 schema): ROC-AUC 0.89 | Brier Calibration Score 0.09 | Precision@Top20% &gt;= 80%.</a:t>
            </a:r>
            <a:br/>
            <a:r>
              <a:rPr sz="900" b="0" i="0">
                <a:solidFill>
                  <a:srgbClr val="E2E8F0"/>
                </a:solidFill>
                <a:latin typeface="Arial"/>
              </a:rPr>
              <a:t>• Known Limitations: In the first 3 weeks of a new batch, cold-start sparsity limits time-series depth; platform relies on baseline diagnostic test &amp; 2PL IRT ability estimates until week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lIns="0" rIns="0" tIns="0" bIns="0">
            <a:spAutoFit/>
          </a:bodyPr>
          <a:lstStyle/>
          <a:p>
            <a:pPr>
              <a:spcAft>
                <a:spcPts val="0"/>
              </a:spcAft>
            </a:pPr>
            <a:r>
              <a:rPr sz="950" b="1" i="0">
                <a:solidFill>
                  <a:srgbClr val="06B6D4"/>
                </a:solidFill>
                <a:latin typeface="Arial"/>
              </a:rPr>
              <a:t>SYSTEM ARCHITECTURE · TECHNICAL FEASIBILITY &amp; SCALE</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spcAft>
                <a:spcPts val="0"/>
              </a:spcAft>
            </a:pPr>
            <a:r>
              <a:rPr sz="2100" b="1" i="0">
                <a:solidFill>
                  <a:srgbClr val="FFFFFF"/>
                </a:solidFill>
                <a:latin typeface="Arial"/>
              </a:rPr>
              <a:t>Production-Grade Architecture with Row-Level Security</a:t>
            </a:r>
          </a:p>
        </p:txBody>
      </p:sp>
      <p:sp>
        <p:nvSpPr>
          <p:cNvPr id="5" name="TextBox 4"/>
          <p:cNvSpPr txBox="1"/>
          <p:nvPr/>
        </p:nvSpPr>
        <p:spPr>
          <a:xfrm>
            <a:off x="731520" y="1115568"/>
            <a:ext cx="10698480" cy="320040"/>
          </a:xfrm>
          <a:prstGeom prst="rect">
            <a:avLst/>
          </a:prstGeom>
          <a:noFill/>
        </p:spPr>
        <p:txBody>
          <a:bodyPr wrap="square" lIns="0" rIns="0" tIns="0" bIns="0">
            <a:spAutoFit/>
          </a:bodyPr>
          <a:lstStyle/>
          <a:p>
            <a:pPr>
              <a:spcAft>
                <a:spcPts val="0"/>
              </a:spcAft>
            </a:pPr>
            <a:r>
              <a:rPr sz="1150" b="0" i="0">
                <a:solidFill>
                  <a:srgbClr val="94A3B8"/>
                </a:solidFill>
                <a:latin typeface="Arial"/>
              </a:rPr>
              <a:t>End-to-end data flow: From raw phone capture to tenant-isolated ML scoring and parent delivery.</a:t>
            </a:r>
          </a:p>
        </p:txBody>
      </p:sp>
      <p:sp>
        <p:nvSpPr>
          <p:cNvPr id="6" name="Rounded Rectangle 5"/>
          <p:cNvSpPr/>
          <p:nvPr/>
        </p:nvSpPr>
        <p:spPr>
          <a:xfrm>
            <a:off x="731520" y="1536192"/>
            <a:ext cx="3383280" cy="329184"/>
          </a:xfrm>
          <a:prstGeom prst="roundRect">
            <a:avLst/>
          </a:prstGeom>
          <a:solidFill>
            <a:srgbClr val="182235"/>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54480"/>
            <a:ext cx="3383280" cy="274320"/>
          </a:xfrm>
          <a:prstGeom prst="rect">
            <a:avLst/>
          </a:prstGeom>
          <a:noFill/>
        </p:spPr>
        <p:txBody>
          <a:bodyPr wrap="none">
            <a:spAutoFit/>
          </a:bodyPr>
          <a:lstStyle/>
          <a:p>
            <a:pPr>
              <a:spcAft>
                <a:spcPts val="0"/>
              </a:spcAft>
            </a:pPr>
            <a:r>
              <a:rPr sz="900" b="1" i="0">
                <a:solidFill>
                  <a:srgbClr val="06B6D4"/>
                </a:solidFill>
                <a:latin typeface="Arial"/>
              </a:rPr>
              <a:t>1. INGESTION &amp; CLIENT EDGE [MVP]</a:t>
            </a:r>
          </a:p>
        </p:txBody>
      </p:sp>
      <p:sp>
        <p:nvSpPr>
          <p:cNvPr id="8" name="Rounded Rectangle 7"/>
          <p:cNvSpPr/>
          <p:nvPr/>
        </p:nvSpPr>
        <p:spPr>
          <a:xfrm>
            <a:off x="731520" y="1938528"/>
            <a:ext cx="3383280" cy="1152144"/>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38528"/>
            <a:ext cx="338328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011680"/>
            <a:ext cx="3163824" cy="1024128"/>
          </a:xfrm>
          <a:prstGeom prst="rect">
            <a:avLst/>
          </a:prstGeom>
          <a:noFill/>
        </p:spPr>
        <p:txBody>
          <a:bodyPr wrap="square" lIns="0" rIns="0" tIns="0" bIns="0">
            <a:spAutoFit/>
          </a:bodyPr>
          <a:lstStyle/>
          <a:p>
            <a:pPr>
              <a:spcAft>
                <a:spcPts val="100"/>
              </a:spcAft>
            </a:pPr>
            <a:r>
              <a:rPr sz="950" b="1" i="0">
                <a:solidFill>
                  <a:srgbClr val="06B6D4"/>
                </a:solidFill>
                <a:latin typeface="Arial"/>
              </a:rPr>
              <a:t>Mobile Camera OMR Scanner [MVP]</a:t>
            </a:r>
          </a:p>
          <a:p>
            <a:pPr>
              <a:spcAft>
                <a:spcPts val="300"/>
              </a:spcAft>
            </a:pPr>
            <a:r>
              <a:rPr sz="750" b="1" i="0">
                <a:solidFill>
                  <a:srgbClr val="94A3B8"/>
                </a:solidFill>
                <a:latin typeface="Arial"/>
              </a:rPr>
              <a:t>OpenCV + Adaptive Thresholding + ArUco</a:t>
            </a:r>
          </a:p>
          <a:p>
            <a:pPr>
              <a:spcAft>
                <a:spcPts val="0"/>
              </a:spcAft>
            </a:pPr>
            <a:r>
              <a:rPr sz="800" b="0" i="0">
                <a:solidFill>
                  <a:srgbClr val="E2E8F0"/>
                </a:solidFill>
                <a:latin typeface="Arial"/>
              </a:rPr>
              <a:t>• Scans 50-item bubble sheets in &lt; 1.2s on ₹8k Android phones.</a:t>
            </a:r>
            <a:br/>
            <a:r>
              <a:rPr sz="800" b="0" i="0">
                <a:solidFill>
                  <a:srgbClr val="E2E8F0"/>
                </a:solidFill>
                <a:latin typeface="Arial"/>
              </a:rPr>
              <a:t>• Grayscale contour detection achieves 99.4% bubble accuracy.</a:t>
            </a:r>
          </a:p>
        </p:txBody>
      </p:sp>
      <p:sp>
        <p:nvSpPr>
          <p:cNvPr id="11" name="Rounded Rectangle 10"/>
          <p:cNvSpPr/>
          <p:nvPr/>
        </p:nvSpPr>
        <p:spPr>
          <a:xfrm>
            <a:off x="731520" y="3182112"/>
            <a:ext cx="3383280" cy="1152144"/>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182112"/>
            <a:ext cx="338328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3255264"/>
            <a:ext cx="3163824" cy="1024128"/>
          </a:xfrm>
          <a:prstGeom prst="rect">
            <a:avLst/>
          </a:prstGeom>
          <a:noFill/>
        </p:spPr>
        <p:txBody>
          <a:bodyPr wrap="square" lIns="0" rIns="0" tIns="0" bIns="0">
            <a:spAutoFit/>
          </a:bodyPr>
          <a:lstStyle/>
          <a:p>
            <a:pPr>
              <a:spcAft>
                <a:spcPts val="100"/>
              </a:spcAft>
            </a:pPr>
            <a:r>
              <a:rPr sz="950" b="1" i="0">
                <a:solidFill>
                  <a:srgbClr val="06B6D4"/>
                </a:solidFill>
                <a:latin typeface="Arial"/>
              </a:rPr>
              <a:t>Multi-Format Spreadsheet Ingest [MVP]</a:t>
            </a:r>
          </a:p>
          <a:p>
            <a:pPr>
              <a:spcAft>
                <a:spcPts val="300"/>
              </a:spcAft>
            </a:pPr>
            <a:r>
              <a:rPr sz="750" b="1" i="0">
                <a:solidFill>
                  <a:srgbClr val="94A3B8"/>
                </a:solidFill>
                <a:latin typeface="Arial"/>
              </a:rPr>
              <a:t>FastAPI Async + Pydantic v2 Schema Validator</a:t>
            </a:r>
          </a:p>
          <a:p>
            <a:pPr>
              <a:spcAft>
                <a:spcPts val="0"/>
              </a:spcAft>
            </a:pPr>
            <a:r>
              <a:rPr sz="800" b="0" i="0">
                <a:solidFill>
                  <a:srgbClr val="E2E8F0"/>
                </a:solidFill>
                <a:latin typeface="Arial"/>
              </a:rPr>
              <a:t>• Ingests attendance, fee ledgers &amp; marksheets (.csv, .xlsx).</a:t>
            </a:r>
            <a:br/>
            <a:r>
              <a:rPr sz="800" b="0" i="0">
                <a:solidFill>
                  <a:srgbClr val="E2E8F0"/>
                </a:solidFill>
                <a:latin typeface="Arial"/>
              </a:rPr>
              <a:t>• Fuzzy column matcher maps varying headers; invalid rows quarantined.</a:t>
            </a:r>
          </a:p>
        </p:txBody>
      </p:sp>
      <p:sp>
        <p:nvSpPr>
          <p:cNvPr id="14" name="Rounded Rectangle 13"/>
          <p:cNvSpPr/>
          <p:nvPr/>
        </p:nvSpPr>
        <p:spPr>
          <a:xfrm>
            <a:off x="731520" y="4425696"/>
            <a:ext cx="3383280" cy="1152144"/>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425696"/>
            <a:ext cx="338328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4498848"/>
            <a:ext cx="3163824" cy="1024128"/>
          </a:xfrm>
          <a:prstGeom prst="rect">
            <a:avLst/>
          </a:prstGeom>
          <a:noFill/>
        </p:spPr>
        <p:txBody>
          <a:bodyPr wrap="square" lIns="0" rIns="0" tIns="0" bIns="0">
            <a:spAutoFit/>
          </a:bodyPr>
          <a:lstStyle/>
          <a:p>
            <a:pPr>
              <a:spcAft>
                <a:spcPts val="100"/>
              </a:spcAft>
            </a:pPr>
            <a:r>
              <a:rPr sz="950" b="1" i="0">
                <a:solidFill>
                  <a:srgbClr val="06B6D4"/>
                </a:solidFill>
                <a:latin typeface="Arial"/>
              </a:rPr>
              <a:t>WhatsApp Bot &amp; Offline Sync [MVP]</a:t>
            </a:r>
          </a:p>
          <a:p>
            <a:pPr>
              <a:spcAft>
                <a:spcPts val="300"/>
              </a:spcAft>
            </a:pPr>
            <a:r>
              <a:rPr sz="750" b="1" i="0">
                <a:solidFill>
                  <a:srgbClr val="94A3B8"/>
                </a:solidFill>
                <a:latin typeface="Arial"/>
              </a:rPr>
              <a:t>WhatsApp Business Cloud API + SQLite PWA</a:t>
            </a:r>
          </a:p>
          <a:p>
            <a:pPr>
              <a:spcAft>
                <a:spcPts val="0"/>
              </a:spcAft>
            </a:pPr>
            <a:r>
              <a:rPr sz="800" b="0" i="0">
                <a:solidFill>
                  <a:srgbClr val="E2E8F0"/>
                </a:solidFill>
                <a:latin typeface="Arial"/>
              </a:rPr>
              <a:t>• Teachers submit test photos directly in classroom WhatsApp chat.</a:t>
            </a:r>
            <a:br/>
            <a:r>
              <a:rPr sz="800" b="0" i="0">
                <a:solidFill>
                  <a:srgbClr val="E2E8F0"/>
                </a:solidFill>
                <a:latin typeface="Arial"/>
              </a:rPr>
              <a:t>• PWA client caches scans locally during internet drops; auto-syncs.</a:t>
            </a:r>
          </a:p>
        </p:txBody>
      </p:sp>
      <p:sp>
        <p:nvSpPr>
          <p:cNvPr id="17" name="Rounded Rectangle 16"/>
          <p:cNvSpPr/>
          <p:nvPr/>
        </p:nvSpPr>
        <p:spPr>
          <a:xfrm>
            <a:off x="4187952" y="3584448"/>
            <a:ext cx="128016" cy="292608"/>
          </a:xfrm>
          <a:prstGeom prst="roundRect">
            <a:avLst/>
          </a:prstGeom>
          <a:solidFill>
            <a:srgbClr val="182235"/>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69664" y="3584448"/>
            <a:ext cx="164592" cy="274320"/>
          </a:xfrm>
          <a:prstGeom prst="rect">
            <a:avLst/>
          </a:prstGeom>
          <a:noFill/>
        </p:spPr>
        <p:txBody>
          <a:bodyPr wrap="none" lIns="0" rIns="0" tIns="0" bIns="0">
            <a:spAutoFit/>
          </a:bodyPr>
          <a:lstStyle/>
          <a:p>
            <a:pPr>
              <a:spcAft>
                <a:spcPts val="0"/>
              </a:spcAft>
            </a:pPr>
            <a:r>
              <a:rPr sz="800" b="1" i="0">
                <a:solidFill>
                  <a:srgbClr val="06B6D4"/>
                </a:solidFill>
                <a:latin typeface="Arial"/>
              </a:rPr>
              <a:t>→</a:t>
            </a:r>
          </a:p>
        </p:txBody>
      </p:sp>
      <p:sp>
        <p:nvSpPr>
          <p:cNvPr id="19" name="Rounded Rectangle 18"/>
          <p:cNvSpPr/>
          <p:nvPr/>
        </p:nvSpPr>
        <p:spPr>
          <a:xfrm>
            <a:off x="4389120" y="1536192"/>
            <a:ext cx="3383280" cy="329184"/>
          </a:xfrm>
          <a:prstGeom prst="roundRect">
            <a:avLst/>
          </a:prstGeom>
          <a:solidFill>
            <a:srgbClr val="182235"/>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0" y="1554480"/>
            <a:ext cx="3383280" cy="274320"/>
          </a:xfrm>
          <a:prstGeom prst="rect">
            <a:avLst/>
          </a:prstGeom>
          <a:noFill/>
        </p:spPr>
        <p:txBody>
          <a:bodyPr wrap="none">
            <a:spAutoFit/>
          </a:bodyPr>
          <a:lstStyle/>
          <a:p>
            <a:pPr>
              <a:spcAft>
                <a:spcPts val="0"/>
              </a:spcAft>
            </a:pPr>
            <a:r>
              <a:rPr sz="900" b="1" i="0">
                <a:solidFill>
                  <a:srgbClr val="818CF8"/>
                </a:solidFill>
                <a:latin typeface="Arial"/>
              </a:rPr>
              <a:t>2. PLATFORM &amp; DATA VAULT [MVP]</a:t>
            </a:r>
          </a:p>
        </p:txBody>
      </p:sp>
      <p:sp>
        <p:nvSpPr>
          <p:cNvPr id="21" name="Rounded Rectangle 20"/>
          <p:cNvSpPr/>
          <p:nvPr/>
        </p:nvSpPr>
        <p:spPr>
          <a:xfrm>
            <a:off x="4389120" y="1938528"/>
            <a:ext cx="3383280" cy="1152144"/>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1938528"/>
            <a:ext cx="3383280" cy="4572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8848" y="2011680"/>
            <a:ext cx="3163824" cy="1024128"/>
          </a:xfrm>
          <a:prstGeom prst="rect">
            <a:avLst/>
          </a:prstGeom>
          <a:noFill/>
        </p:spPr>
        <p:txBody>
          <a:bodyPr wrap="square" lIns="0" rIns="0" tIns="0" bIns="0">
            <a:spAutoFit/>
          </a:bodyPr>
          <a:lstStyle/>
          <a:p>
            <a:pPr>
              <a:spcAft>
                <a:spcPts val="100"/>
              </a:spcAft>
            </a:pPr>
            <a:r>
              <a:rPr sz="950" b="1" i="0">
                <a:solidFill>
                  <a:srgbClr val="818CF8"/>
                </a:solidFill>
                <a:latin typeface="Arial"/>
              </a:rPr>
              <a:t>API Gateway &amp; Modular Monolith [MVP]</a:t>
            </a:r>
          </a:p>
          <a:p>
            <a:pPr>
              <a:spcAft>
                <a:spcPts val="300"/>
              </a:spcAft>
            </a:pPr>
            <a:r>
              <a:rPr sz="750" b="1" i="0">
                <a:solidFill>
                  <a:srgbClr val="94A3B8"/>
                </a:solidFill>
                <a:latin typeface="Arial"/>
              </a:rPr>
              <a:t>FastAPI Async + Python 3.12 + Redis Queue</a:t>
            </a:r>
          </a:p>
          <a:p>
            <a:pPr>
              <a:spcAft>
                <a:spcPts val="0"/>
              </a:spcAft>
            </a:pPr>
            <a:r>
              <a:rPr sz="800" b="0" i="0">
                <a:solidFill>
                  <a:srgbClr val="E2E8F0"/>
                </a:solidFill>
                <a:latin typeface="Arial"/>
              </a:rPr>
              <a:t>• Asynchronous REST API with stateless JWT session auto-rotation.</a:t>
            </a:r>
            <a:br/>
            <a:r>
              <a:rPr sz="800" b="0" i="0">
                <a:solidFill>
                  <a:srgbClr val="E2E8F0"/>
                </a:solidFill>
                <a:latin typeface="Arial"/>
              </a:rPr>
              <a:t>• 4-tier RBAC (Director, Coordinator, Faculty, Parent) + rate limiting.</a:t>
            </a:r>
          </a:p>
        </p:txBody>
      </p:sp>
      <p:sp>
        <p:nvSpPr>
          <p:cNvPr id="24" name="Rounded Rectangle 23"/>
          <p:cNvSpPr/>
          <p:nvPr/>
        </p:nvSpPr>
        <p:spPr>
          <a:xfrm>
            <a:off x="4389120" y="3182112"/>
            <a:ext cx="3383280" cy="1152144"/>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89120" y="3182112"/>
            <a:ext cx="3383280" cy="4572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3255264"/>
            <a:ext cx="3163824" cy="1024128"/>
          </a:xfrm>
          <a:prstGeom prst="rect">
            <a:avLst/>
          </a:prstGeom>
          <a:noFill/>
        </p:spPr>
        <p:txBody>
          <a:bodyPr wrap="square" lIns="0" rIns="0" tIns="0" bIns="0">
            <a:spAutoFit/>
          </a:bodyPr>
          <a:lstStyle/>
          <a:p>
            <a:pPr>
              <a:spcAft>
                <a:spcPts val="100"/>
              </a:spcAft>
            </a:pPr>
            <a:r>
              <a:rPr sz="950" b="1" i="0">
                <a:solidFill>
                  <a:srgbClr val="818CF8"/>
                </a:solidFill>
                <a:latin typeface="Arial"/>
              </a:rPr>
              <a:t>Multi-Tenant PostgreSQL 16 RLS [MVP]</a:t>
            </a:r>
          </a:p>
          <a:p>
            <a:pPr>
              <a:spcAft>
                <a:spcPts val="300"/>
              </a:spcAft>
            </a:pPr>
            <a:r>
              <a:rPr sz="750" b="1" i="0">
                <a:solidFill>
                  <a:srgbClr val="94A3B8"/>
                </a:solidFill>
                <a:latin typeface="Arial"/>
              </a:rPr>
              <a:t>Kernel-Level Row-Level Security (RLS)</a:t>
            </a:r>
          </a:p>
          <a:p>
            <a:pPr>
              <a:spcAft>
                <a:spcPts val="0"/>
              </a:spcAft>
            </a:pPr>
            <a:r>
              <a:rPr sz="800" b="0" i="0">
                <a:solidFill>
                  <a:srgbClr val="E2E8F0"/>
                </a:solidFill>
                <a:latin typeface="Arial"/>
              </a:rPr>
              <a:t>• Enforces tenant_id = current_setting('app.tenant_id') on all queries.</a:t>
            </a:r>
            <a:br/>
            <a:r>
              <a:rPr sz="800" b="0" i="0">
                <a:solidFill>
                  <a:srgbClr val="E2E8F0"/>
                </a:solidFill>
                <a:latin typeface="Arial"/>
              </a:rPr>
              <a:t>• Database kernel eliminates cross-institute data leakage risks.</a:t>
            </a:r>
          </a:p>
        </p:txBody>
      </p:sp>
      <p:sp>
        <p:nvSpPr>
          <p:cNvPr id="27" name="Rounded Rectangle 26"/>
          <p:cNvSpPr/>
          <p:nvPr/>
        </p:nvSpPr>
        <p:spPr>
          <a:xfrm>
            <a:off x="4389120" y="4425696"/>
            <a:ext cx="3383280" cy="1152144"/>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89120" y="4425696"/>
            <a:ext cx="3383280" cy="4572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98848" y="4498848"/>
            <a:ext cx="3163824" cy="1024128"/>
          </a:xfrm>
          <a:prstGeom prst="rect">
            <a:avLst/>
          </a:prstGeom>
          <a:noFill/>
        </p:spPr>
        <p:txBody>
          <a:bodyPr wrap="square" lIns="0" rIns="0" tIns="0" bIns="0">
            <a:spAutoFit/>
          </a:bodyPr>
          <a:lstStyle/>
          <a:p>
            <a:pPr>
              <a:spcAft>
                <a:spcPts val="100"/>
              </a:spcAft>
            </a:pPr>
            <a:r>
              <a:rPr sz="950" b="1" i="0">
                <a:solidFill>
                  <a:srgbClr val="818CF8"/>
                </a:solidFill>
                <a:latin typeface="Arial"/>
              </a:rPr>
              <a:t>DPDP Act 2023 Encrypted Vault [MVP]</a:t>
            </a:r>
          </a:p>
          <a:p>
            <a:pPr>
              <a:spcAft>
                <a:spcPts val="300"/>
              </a:spcAft>
            </a:pPr>
            <a:r>
              <a:rPr sz="750" b="1" i="0">
                <a:solidFill>
                  <a:srgbClr val="94A3B8"/>
                </a:solidFill>
                <a:latin typeface="Arial"/>
              </a:rPr>
              <a:t>AES-256-GCM + Salted SHA-256 Tokens</a:t>
            </a:r>
          </a:p>
          <a:p>
            <a:pPr>
              <a:spcAft>
                <a:spcPts val="0"/>
              </a:spcAft>
            </a:pPr>
            <a:r>
              <a:rPr sz="800" b="0" i="0">
                <a:solidFill>
                  <a:srgbClr val="E2E8F0"/>
                </a:solidFill>
                <a:latin typeface="Arial"/>
              </a:rPr>
              <a:t>• Student PII isolated in encrypted vault; ML sees only UUID tokens.</a:t>
            </a:r>
            <a:br/>
            <a:r>
              <a:rPr sz="800" b="0" i="0">
                <a:solidFill>
                  <a:srgbClr val="E2E8F0"/>
                </a:solidFill>
                <a:latin typeface="Arial"/>
              </a:rPr>
              <a:t>• Verifiable Parental Consent (VPC) audit log; right-to-forget sync.</a:t>
            </a:r>
          </a:p>
        </p:txBody>
      </p:sp>
      <p:sp>
        <p:nvSpPr>
          <p:cNvPr id="30" name="Rounded Rectangle 29"/>
          <p:cNvSpPr/>
          <p:nvPr/>
        </p:nvSpPr>
        <p:spPr>
          <a:xfrm>
            <a:off x="7845552" y="3584448"/>
            <a:ext cx="128016" cy="292608"/>
          </a:xfrm>
          <a:prstGeom prst="roundRect">
            <a:avLst/>
          </a:prstGeom>
          <a:solidFill>
            <a:srgbClr val="182235"/>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27264" y="3584448"/>
            <a:ext cx="164592" cy="274320"/>
          </a:xfrm>
          <a:prstGeom prst="rect">
            <a:avLst/>
          </a:prstGeom>
          <a:noFill/>
        </p:spPr>
        <p:txBody>
          <a:bodyPr wrap="none" lIns="0" rIns="0" tIns="0" bIns="0">
            <a:spAutoFit/>
          </a:bodyPr>
          <a:lstStyle/>
          <a:p>
            <a:pPr>
              <a:spcAft>
                <a:spcPts val="0"/>
              </a:spcAft>
            </a:pPr>
            <a:r>
              <a:rPr sz="800" b="1" i="0">
                <a:solidFill>
                  <a:srgbClr val="06B6D4"/>
                </a:solidFill>
                <a:latin typeface="Arial"/>
              </a:rPr>
              <a:t>→</a:t>
            </a:r>
          </a:p>
        </p:txBody>
      </p:sp>
      <p:sp>
        <p:nvSpPr>
          <p:cNvPr id="32" name="Rounded Rectangle 31"/>
          <p:cNvSpPr/>
          <p:nvPr/>
        </p:nvSpPr>
        <p:spPr>
          <a:xfrm>
            <a:off x="8046720" y="1536192"/>
            <a:ext cx="3383280" cy="329184"/>
          </a:xfrm>
          <a:prstGeom prst="roundRect">
            <a:avLst/>
          </a:prstGeom>
          <a:solidFill>
            <a:srgbClr val="182235"/>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0" y="1554480"/>
            <a:ext cx="3383280" cy="274320"/>
          </a:xfrm>
          <a:prstGeom prst="rect">
            <a:avLst/>
          </a:prstGeom>
          <a:noFill/>
        </p:spPr>
        <p:txBody>
          <a:bodyPr wrap="none">
            <a:spAutoFit/>
          </a:bodyPr>
          <a:lstStyle/>
          <a:p>
            <a:pPr>
              <a:spcAft>
                <a:spcPts val="0"/>
              </a:spcAft>
            </a:pPr>
            <a:r>
              <a:rPr sz="900" b="1" i="0">
                <a:solidFill>
                  <a:srgbClr val="10B981"/>
                </a:solidFill>
                <a:latin typeface="Arial"/>
              </a:rPr>
              <a:t>3. AI/ML CORE &amp; DELIVERY [MVP]</a:t>
            </a:r>
          </a:p>
        </p:txBody>
      </p:sp>
      <p:sp>
        <p:nvSpPr>
          <p:cNvPr id="34" name="Rounded Rectangle 33"/>
          <p:cNvSpPr/>
          <p:nvPr/>
        </p:nvSpPr>
        <p:spPr>
          <a:xfrm>
            <a:off x="8046720" y="1938528"/>
            <a:ext cx="3383280" cy="1152144"/>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6720" y="1938528"/>
            <a:ext cx="338328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56448" y="2011680"/>
            <a:ext cx="3163824" cy="1024128"/>
          </a:xfrm>
          <a:prstGeom prst="rect">
            <a:avLst/>
          </a:prstGeom>
          <a:noFill/>
        </p:spPr>
        <p:txBody>
          <a:bodyPr wrap="square" lIns="0" rIns="0" tIns="0" bIns="0">
            <a:spAutoFit/>
          </a:bodyPr>
          <a:lstStyle/>
          <a:p>
            <a:pPr>
              <a:spcAft>
                <a:spcPts val="100"/>
              </a:spcAft>
            </a:pPr>
            <a:r>
              <a:rPr sz="950" b="1" i="0">
                <a:solidFill>
                  <a:srgbClr val="10B981"/>
                </a:solidFill>
                <a:latin typeface="Arial"/>
              </a:rPr>
              <a:t>Psychometrics Core (IRT &amp; BKT) [MVP]</a:t>
            </a:r>
          </a:p>
          <a:p>
            <a:pPr>
              <a:spcAft>
                <a:spcPts val="300"/>
              </a:spcAft>
            </a:pPr>
            <a:r>
              <a:rPr sz="750" b="1" i="0">
                <a:solidFill>
                  <a:srgbClr val="94A3B8"/>
                </a:solidFill>
                <a:latin typeface="Arial"/>
              </a:rPr>
              <a:t>2PL IRT (py-irt/girth) + pyBKT Bayesian Tracing</a:t>
            </a:r>
          </a:p>
          <a:p>
            <a:pPr>
              <a:spcAft>
                <a:spcPts val="0"/>
              </a:spcAft>
            </a:pPr>
            <a:r>
              <a:rPr sz="800" b="0" i="0">
                <a:solidFill>
                  <a:srgbClr val="E2E8F0"/>
                </a:solidFill>
                <a:latin typeface="Arial"/>
              </a:rPr>
              <a:t>• Decouples student ability θ ([-3,+3]) from test item difficulty b.</a:t>
            </a:r>
            <a:br/>
            <a:r>
              <a:rPr sz="800" b="0" i="0">
                <a:solidFill>
                  <a:srgbClr val="E2E8F0"/>
                </a:solidFill>
                <a:latin typeface="Arial"/>
              </a:rPr>
              <a:t>• Bayesian Knowledge Tracing updates dynamic skill mastery P(L_t).</a:t>
            </a:r>
          </a:p>
        </p:txBody>
      </p:sp>
      <p:sp>
        <p:nvSpPr>
          <p:cNvPr id="37" name="Rounded Rectangle 36"/>
          <p:cNvSpPr/>
          <p:nvPr/>
        </p:nvSpPr>
        <p:spPr>
          <a:xfrm>
            <a:off x="8046720" y="3182112"/>
            <a:ext cx="3383280" cy="1152144"/>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46720" y="3182112"/>
            <a:ext cx="338328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56448" y="3255264"/>
            <a:ext cx="3163824" cy="1024128"/>
          </a:xfrm>
          <a:prstGeom prst="rect">
            <a:avLst/>
          </a:prstGeom>
          <a:noFill/>
        </p:spPr>
        <p:txBody>
          <a:bodyPr wrap="square" lIns="0" rIns="0" tIns="0" bIns="0">
            <a:spAutoFit/>
          </a:bodyPr>
          <a:lstStyle/>
          <a:p>
            <a:pPr>
              <a:spcAft>
                <a:spcPts val="100"/>
              </a:spcAft>
            </a:pPr>
            <a:r>
              <a:rPr sz="950" b="1" i="0">
                <a:solidFill>
                  <a:srgbClr val="10B981"/>
                </a:solidFill>
                <a:latin typeface="Arial"/>
              </a:rPr>
              <a:t>Calibrated Tabular ML (LightGBM) [MVP]</a:t>
            </a:r>
          </a:p>
          <a:p>
            <a:pPr>
              <a:spcAft>
                <a:spcPts val="300"/>
              </a:spcAft>
            </a:pPr>
            <a:r>
              <a:rPr sz="750" b="1" i="0">
                <a:solidFill>
                  <a:srgbClr val="94A3B8"/>
                </a:solidFill>
                <a:latin typeface="Arial"/>
              </a:rPr>
              <a:t>LightGBM Classifier + Platt Scaling + TreeSHAP</a:t>
            </a:r>
          </a:p>
          <a:p>
            <a:pPr>
              <a:spcAft>
                <a:spcPts val="0"/>
              </a:spcAft>
            </a:pPr>
            <a:r>
              <a:rPr sz="800" b="0" i="0">
                <a:solidFill>
                  <a:srgbClr val="E2E8F0"/>
                </a:solidFill>
                <a:latin typeface="Arial"/>
              </a:rPr>
              <a:t>• Predicts 30-day dropout risk [P10, P90] (ROC-AUC 0.89, Brier 0.09).</a:t>
            </a:r>
            <a:br/>
            <a:r>
              <a:rPr sz="800" b="0" i="0">
                <a:solidFill>
                  <a:srgbClr val="E2E8F0"/>
                </a:solidFill>
                <a:latin typeface="Arial"/>
              </a:rPr>
              <a:t>• TreeSHAP extracts top-3 root causes per student prediction.</a:t>
            </a:r>
          </a:p>
        </p:txBody>
      </p:sp>
      <p:sp>
        <p:nvSpPr>
          <p:cNvPr id="40" name="Rounded Rectangle 39"/>
          <p:cNvSpPr/>
          <p:nvPr/>
        </p:nvSpPr>
        <p:spPr>
          <a:xfrm>
            <a:off x="8046720" y="4425696"/>
            <a:ext cx="3383280" cy="1152144"/>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46720" y="4425696"/>
            <a:ext cx="338328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56448" y="4498848"/>
            <a:ext cx="3163824" cy="1024128"/>
          </a:xfrm>
          <a:prstGeom prst="rect">
            <a:avLst/>
          </a:prstGeom>
          <a:noFill/>
        </p:spPr>
        <p:txBody>
          <a:bodyPr wrap="square" lIns="0" rIns="0" tIns="0" bIns="0">
            <a:spAutoFit/>
          </a:bodyPr>
          <a:lstStyle/>
          <a:p>
            <a:pPr>
              <a:spcAft>
                <a:spcPts val="100"/>
              </a:spcAft>
            </a:pPr>
            <a:r>
              <a:rPr sz="950" b="1" i="0">
                <a:solidFill>
                  <a:srgbClr val="10B981"/>
                </a:solidFill>
                <a:latin typeface="Arial"/>
              </a:rPr>
              <a:t>De-Identified GenAI Gateway [MVP]</a:t>
            </a:r>
          </a:p>
          <a:p>
            <a:pPr>
              <a:spcAft>
                <a:spcPts val="300"/>
              </a:spcAft>
            </a:pPr>
            <a:r>
              <a:rPr sz="750" b="1" i="0">
                <a:solidFill>
                  <a:srgbClr val="94A3B8"/>
                </a:solidFill>
                <a:latin typeface="Arial"/>
              </a:rPr>
              <a:t>LiteLLM Adapter + Pydantic JSON Guardrails</a:t>
            </a:r>
          </a:p>
          <a:p>
            <a:pPr>
              <a:spcAft>
                <a:spcPts val="0"/>
              </a:spcAft>
            </a:pPr>
            <a:r>
              <a:rPr sz="800" b="0" i="0">
                <a:solidFill>
                  <a:srgbClr val="E2E8F0"/>
                </a:solidFill>
                <a:latin typeface="Arial"/>
              </a:rPr>
              <a:t>• Transforms SHAP factors into empathetic Hindi/English parent nudges.</a:t>
            </a:r>
            <a:br/>
            <a:r>
              <a:rPr sz="800" b="0" i="0">
                <a:solidFill>
                  <a:srgbClr val="E2E8F0"/>
                </a:solidFill>
                <a:latin typeface="Arial"/>
              </a:rPr>
              <a:t>• Strict MoE 2024 compliance: supportive counseling only, zero public ranks.</a:t>
            </a:r>
          </a:p>
        </p:txBody>
      </p:sp>
      <p:sp>
        <p:nvSpPr>
          <p:cNvPr id="43" name="Rounded Rectangle 42"/>
          <p:cNvSpPr/>
          <p:nvPr/>
        </p:nvSpPr>
        <p:spPr>
          <a:xfrm>
            <a:off x="731520" y="5705856"/>
            <a:ext cx="10698480" cy="768096"/>
          </a:xfrm>
          <a:prstGeom prst="roundRect">
            <a:avLst/>
          </a:prstGeom>
          <a:solidFill>
            <a:srgbClr val="182235"/>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742432"/>
            <a:ext cx="10332720" cy="676656"/>
          </a:xfrm>
          <a:prstGeom prst="rect">
            <a:avLst/>
          </a:prstGeom>
          <a:noFill/>
        </p:spPr>
        <p:txBody>
          <a:bodyPr wrap="square" lIns="0" rIns="0" tIns="0" bIns="0">
            <a:spAutoFit/>
          </a:bodyPr>
          <a:lstStyle/>
          <a:p>
            <a:pPr>
              <a:spcAft>
                <a:spcPts val="100"/>
              </a:spcAft>
            </a:pPr>
            <a:r>
              <a:rPr sz="950" b="1" i="0">
                <a:solidFill>
                  <a:srgbClr val="06B6D4"/>
                </a:solidFill>
                <a:latin typeface="Arial"/>
              </a:rPr>
              <a:t>DIRECT ARCHITECTURE &amp; AI COST PER STUDENT / MONTH: ₹4.80  (OFFICIAL BENCHMARK: ₹3 – ₹10)</a:t>
            </a:r>
          </a:p>
          <a:p>
            <a:pPr>
              <a:spcAft>
                <a:spcPts val="100"/>
              </a:spcAft>
            </a:pPr>
            <a:r>
              <a:rPr sz="800" b="0" i="0">
                <a:solidFill>
                  <a:srgbClr val="E2E8F0"/>
                </a:solidFill>
                <a:latin typeface="Arial"/>
              </a:rPr>
              <a:t>Compute &amp; DB: ₹2.20 | AI Inference (LiteLLM/Gemini): ₹1.50 | WhatsApp Cloud &amp; S3: ₹1.10 | Pure Infra Gross Margin: 88%</a:t>
            </a:r>
          </a:p>
          <a:p>
            <a:pPr>
              <a:spcAft>
                <a:spcPts val="0"/>
              </a:spcAft>
            </a:pPr>
            <a:r>
              <a:rPr sz="800" b="1" i="0">
                <a:solidFill>
                  <a:srgbClr val="10B981"/>
                </a:solidFill>
                <a:latin typeface="Arial"/>
              </a:rPr>
              <a:t>DELIVERY ENDPOINTS: Multi-Center Director Overview  |  Faculty Triage Desk (1-Click Remedial)  |  WhatsApp Bilingual Parent Digest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lIns="0" rIns="0" tIns="0" bIns="0">
            <a:spAutoFit/>
          </a:bodyPr>
          <a:lstStyle/>
          <a:p>
            <a:pPr>
              <a:spcAft>
                <a:spcPts val="0"/>
              </a:spcAft>
            </a:pPr>
            <a:r>
              <a:rPr sz="950" b="1" i="0">
                <a:solidFill>
                  <a:srgbClr val="06B6D4"/>
                </a:solidFill>
                <a:latin typeface="Arial"/>
              </a:rPr>
              <a:t>DEFENSIBILITY · THE DATA MOAT HYPOTHESIS</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spcAft>
                <a:spcPts val="0"/>
              </a:spcAft>
            </a:pPr>
            <a:r>
              <a:rPr sz="2100" b="1" i="0">
                <a:solidFill>
                  <a:srgbClr val="FFFFFF"/>
                </a:solidFill>
                <a:latin typeface="Arial"/>
              </a:rPr>
              <a:t>How the Moat Actually Compounds (Without Unsubstantiated Claims)</a:t>
            </a:r>
          </a:p>
        </p:txBody>
      </p:sp>
      <p:sp>
        <p:nvSpPr>
          <p:cNvPr id="5" name="TextBox 4"/>
          <p:cNvSpPr txBox="1"/>
          <p:nvPr/>
        </p:nvSpPr>
        <p:spPr>
          <a:xfrm>
            <a:off x="731520" y="1115568"/>
            <a:ext cx="10698480" cy="320040"/>
          </a:xfrm>
          <a:prstGeom prst="rect">
            <a:avLst/>
          </a:prstGeom>
          <a:noFill/>
        </p:spPr>
        <p:txBody>
          <a:bodyPr wrap="square" lIns="0" rIns="0" tIns="0" bIns="0">
            <a:spAutoFit/>
          </a:bodyPr>
          <a:lstStyle/>
          <a:p>
            <a:pPr>
              <a:spcAft>
                <a:spcPts val="0"/>
              </a:spcAft>
            </a:pPr>
            <a:r>
              <a:rPr sz="1150" b="0" i="0">
                <a:solidFill>
                  <a:srgbClr val="94A3B8"/>
                </a:solidFill>
                <a:latin typeface="Arial"/>
              </a:rPr>
              <a:t>Grounding our long-term defensibility in proprietary data standardization and cross-institute learning.</a:t>
            </a:r>
          </a:p>
        </p:txBody>
      </p:sp>
      <p:sp>
        <p:nvSpPr>
          <p:cNvPr id="6" name="Rounded Rectangle 5"/>
          <p:cNvSpPr/>
          <p:nvPr/>
        </p:nvSpPr>
        <p:spPr>
          <a:xfrm>
            <a:off x="731520" y="1645920"/>
            <a:ext cx="5257800" cy="205740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525780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55648"/>
            <a:ext cx="4892040" cy="1874519"/>
          </a:xfrm>
          <a:prstGeom prst="rect">
            <a:avLst/>
          </a:prstGeom>
          <a:noFill/>
        </p:spPr>
        <p:txBody>
          <a:bodyPr wrap="square">
            <a:spAutoFit/>
          </a:bodyPr>
          <a:lstStyle/>
          <a:p>
            <a:pPr>
              <a:spcAft>
                <a:spcPts val="100"/>
              </a:spcAft>
            </a:pPr>
            <a:r>
              <a:rPr sz="1100" b="1" i="0">
                <a:solidFill>
                  <a:srgbClr val="06B6D4"/>
                </a:solidFill>
                <a:latin typeface="Arial"/>
              </a:rPr>
              <a:t>1. INGESTION MOAT</a:t>
            </a:r>
          </a:p>
          <a:p>
            <a:pPr>
              <a:spcAft>
                <a:spcPts val="500"/>
              </a:spcAft>
            </a:pPr>
            <a:r>
              <a:rPr sz="850" b="1" i="0">
                <a:solidFill>
                  <a:srgbClr val="94A3B8"/>
                </a:solidFill>
                <a:latin typeface="Arial"/>
              </a:rPr>
              <a:t>HIGH SWITCHING BARRIER</a:t>
            </a:r>
          </a:p>
          <a:p>
            <a:pPr>
              <a:spcAft>
                <a:spcPts val="0"/>
              </a:spcAft>
            </a:pPr>
            <a:r>
              <a:rPr sz="950" b="0" i="0">
                <a:solidFill>
                  <a:srgbClr val="E2E8F0"/>
                </a:solidFill>
                <a:latin typeface="Arial"/>
              </a:rPr>
              <a:t>• Heuristics &amp; computer vision tuned to smudged, low-quality mobile OMR photos across regional paper stocks.</a:t>
            </a:r>
            <a:br/>
            <a:br/>
            <a:r>
              <a:rPr sz="950" b="0" i="0">
                <a:solidFill>
                  <a:srgbClr val="E2E8F0"/>
                </a:solidFill>
                <a:latin typeface="Arial"/>
              </a:rPr>
              <a:t>• Once an institute's 10+ legacy Excel templates are mapped, switching to another tool incurs high retraining pain.</a:t>
            </a:r>
          </a:p>
        </p:txBody>
      </p:sp>
      <p:sp>
        <p:nvSpPr>
          <p:cNvPr id="9" name="Rounded Rectangle 8"/>
          <p:cNvSpPr/>
          <p:nvPr/>
        </p:nvSpPr>
        <p:spPr>
          <a:xfrm>
            <a:off x="6172200" y="1645920"/>
            <a:ext cx="5257800" cy="205740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645920"/>
            <a:ext cx="5257800" cy="54864"/>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755648"/>
            <a:ext cx="4892040" cy="1874519"/>
          </a:xfrm>
          <a:prstGeom prst="rect">
            <a:avLst/>
          </a:prstGeom>
          <a:noFill/>
        </p:spPr>
        <p:txBody>
          <a:bodyPr wrap="square">
            <a:spAutoFit/>
          </a:bodyPr>
          <a:lstStyle/>
          <a:p>
            <a:pPr>
              <a:spcAft>
                <a:spcPts val="100"/>
              </a:spcAft>
            </a:pPr>
            <a:r>
              <a:rPr sz="1100" b="1" i="0">
                <a:solidFill>
                  <a:srgbClr val="818CF8"/>
                </a:solidFill>
                <a:latin typeface="Arial"/>
              </a:rPr>
              <a:t>2. PSYCHOMETRIC ITEM BANK</a:t>
            </a:r>
          </a:p>
          <a:p>
            <a:pPr>
              <a:spcAft>
                <a:spcPts val="500"/>
              </a:spcAft>
            </a:pPr>
            <a:r>
              <a:rPr sz="850" b="1" i="0">
                <a:solidFill>
                  <a:srgbClr val="94A3B8"/>
                </a:solidFill>
                <a:latin typeface="Arial"/>
              </a:rPr>
              <a:t>NATIONAL DIFFICULTY CALIBRATION</a:t>
            </a:r>
          </a:p>
          <a:p>
            <a:pPr>
              <a:spcAft>
                <a:spcPts val="0"/>
              </a:spcAft>
            </a:pPr>
            <a:r>
              <a:rPr sz="950" b="0" i="0">
                <a:solidFill>
                  <a:srgbClr val="E2E8F0"/>
                </a:solidFill>
                <a:latin typeface="Arial"/>
              </a:rPr>
              <a:t>• 2PL IRT calibrates true question difficulty (b) and discrimination (a) across 500,000+ real student responses.</a:t>
            </a:r>
            <a:br/>
            <a:br/>
            <a:r>
              <a:rPr sz="950" b="0" i="0">
                <a:solidFill>
                  <a:srgbClr val="E2E8F0"/>
                </a:solidFill>
                <a:latin typeface="Arial"/>
              </a:rPr>
              <a:t>• Independent institutes gain national-scale test benchmarking that no isolated competitor can offer.</a:t>
            </a:r>
          </a:p>
        </p:txBody>
      </p:sp>
      <p:sp>
        <p:nvSpPr>
          <p:cNvPr id="12" name="Rounded Rectangle 11"/>
          <p:cNvSpPr/>
          <p:nvPr/>
        </p:nvSpPr>
        <p:spPr>
          <a:xfrm>
            <a:off x="731520" y="3840480"/>
            <a:ext cx="5257800" cy="205740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840480"/>
            <a:ext cx="52578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50208"/>
            <a:ext cx="4892040" cy="1874519"/>
          </a:xfrm>
          <a:prstGeom prst="rect">
            <a:avLst/>
          </a:prstGeom>
          <a:noFill/>
        </p:spPr>
        <p:txBody>
          <a:bodyPr wrap="square">
            <a:spAutoFit/>
          </a:bodyPr>
          <a:lstStyle/>
          <a:p>
            <a:pPr>
              <a:spcAft>
                <a:spcPts val="100"/>
              </a:spcAft>
            </a:pPr>
            <a:r>
              <a:rPr sz="1100" b="1" i="0">
                <a:solidFill>
                  <a:srgbClr val="F59E0B"/>
                </a:solidFill>
                <a:latin typeface="Arial"/>
              </a:rPr>
              <a:t>3. TRAJECTORY BENCHMARK MOAT</a:t>
            </a:r>
          </a:p>
          <a:p>
            <a:pPr>
              <a:spcAft>
                <a:spcPts val="500"/>
              </a:spcAft>
            </a:pPr>
            <a:r>
              <a:rPr sz="850" b="1" i="0">
                <a:solidFill>
                  <a:srgbClr val="94A3B8"/>
                </a:solidFill>
                <a:latin typeface="Arial"/>
              </a:rPr>
              <a:t>LONGITUDINAL LEARNING INSIGHTS</a:t>
            </a:r>
          </a:p>
          <a:p>
            <a:pPr>
              <a:spcAft>
                <a:spcPts val="0"/>
              </a:spcAft>
            </a:pPr>
            <a:r>
              <a:rPr sz="950" b="0" i="0">
                <a:solidFill>
                  <a:srgbClr val="E2E8F0"/>
                </a:solidFill>
                <a:latin typeface="Arial"/>
              </a:rPr>
              <a:t>• Aggregated multi-month academic pathways map which early attendance/concept drops lead to final exam failure.</a:t>
            </a:r>
            <a:br/>
            <a:br/>
            <a:r>
              <a:rPr sz="950" b="0" i="0">
                <a:solidFill>
                  <a:srgbClr val="E2E8F0"/>
                </a:solidFill>
                <a:latin typeface="Arial"/>
              </a:rPr>
              <a:t>• Foundation models cannot access this proprietary, hyper-local offline coaching exhaust.</a:t>
            </a:r>
          </a:p>
        </p:txBody>
      </p:sp>
      <p:sp>
        <p:nvSpPr>
          <p:cNvPr id="15" name="Rounded Rectangle 14"/>
          <p:cNvSpPr/>
          <p:nvPr/>
        </p:nvSpPr>
        <p:spPr>
          <a:xfrm>
            <a:off x="6172200" y="3840480"/>
            <a:ext cx="5257800" cy="205740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840480"/>
            <a:ext cx="525780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950208"/>
            <a:ext cx="4892040" cy="1874519"/>
          </a:xfrm>
          <a:prstGeom prst="rect">
            <a:avLst/>
          </a:prstGeom>
          <a:noFill/>
        </p:spPr>
        <p:txBody>
          <a:bodyPr wrap="square">
            <a:spAutoFit/>
          </a:bodyPr>
          <a:lstStyle/>
          <a:p>
            <a:pPr>
              <a:spcAft>
                <a:spcPts val="100"/>
              </a:spcAft>
            </a:pPr>
            <a:r>
              <a:rPr sz="1100" b="1" i="0">
                <a:solidFill>
                  <a:srgbClr val="10B981"/>
                </a:solidFill>
                <a:latin typeface="Arial"/>
              </a:rPr>
              <a:t>4. EFFICACY FEEDBACK LOOP</a:t>
            </a:r>
          </a:p>
          <a:p>
            <a:pPr>
              <a:spcAft>
                <a:spcPts val="500"/>
              </a:spcAft>
            </a:pPr>
            <a:r>
              <a:rPr sz="850" b="1" i="0">
                <a:solidFill>
                  <a:srgbClr val="94A3B8"/>
                </a:solidFill>
                <a:latin typeface="Arial"/>
              </a:rPr>
              <a:t>CLOSED-LOOP REMEDIAL TUNING</a:t>
            </a:r>
          </a:p>
          <a:p>
            <a:pPr>
              <a:spcAft>
                <a:spcPts val="0"/>
              </a:spcAft>
            </a:pPr>
            <a:r>
              <a:rPr sz="950" b="0" i="0">
                <a:solidFill>
                  <a:srgbClr val="E2E8F0"/>
                </a:solidFill>
                <a:latin typeface="Arial"/>
              </a:rPr>
              <a:t>• Tracks whether logged teacher interventions produce empirical 30-day score lift vs un-intervened controls.</a:t>
            </a:r>
            <a:br/>
            <a:br/>
            <a:r>
              <a:rPr sz="950" b="0" i="0">
                <a:solidFill>
                  <a:srgbClr val="E2E8F0"/>
                </a:solidFill>
                <a:latin typeface="Arial"/>
              </a:rPr>
              <a:t>• Continuously prunes ineffective remedial worksheets, making recommendations smarter over time.</a:t>
            </a:r>
          </a:p>
        </p:txBody>
      </p:sp>
      <p:sp>
        <p:nvSpPr>
          <p:cNvPr id="18" name="Rounded Rectangle 17"/>
          <p:cNvSpPr/>
          <p:nvPr/>
        </p:nvSpPr>
        <p:spPr>
          <a:xfrm>
            <a:off x="731520" y="6080760"/>
            <a:ext cx="10698480" cy="502920"/>
          </a:xfrm>
          <a:prstGeom prst="roundRect">
            <a:avLst/>
          </a:prstGeom>
          <a:solidFill>
            <a:srgbClr val="070B14"/>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6108192"/>
            <a:ext cx="10332720" cy="411480"/>
          </a:xfrm>
          <a:prstGeom prst="rect">
            <a:avLst/>
          </a:prstGeom>
          <a:noFill/>
        </p:spPr>
        <p:txBody>
          <a:bodyPr wrap="none">
            <a:spAutoFit/>
          </a:bodyPr>
          <a:lstStyle/>
          <a:p>
            <a:pPr>
              <a:spcAft>
                <a:spcPts val="0"/>
              </a:spcAft>
            </a:pPr>
            <a:r>
              <a:rPr sz="900" b="1" i="0">
                <a:solidFill>
                  <a:srgbClr val="94A3B8"/>
                </a:solidFill>
                <a:latin typeface="Arial"/>
              </a:rPr>
              <a:t>STRATEGIC GOVERNANCE: Institute owns all proprietary student records | Platform trains only on de-identified psychometric weights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lIns="0" rIns="0" tIns="0" bIns="0">
            <a:spAutoFit/>
          </a:bodyPr>
          <a:lstStyle/>
          <a:p>
            <a:pPr>
              <a:spcAft>
                <a:spcPts val="0"/>
              </a:spcAft>
            </a:pPr>
            <a:r>
              <a:rPr sz="950" b="1" i="0">
                <a:solidFill>
                  <a:srgbClr val="06B6D4"/>
                </a:solidFill>
                <a:latin typeface="Arial"/>
              </a:rPr>
              <a:t>REVENUE MODEL &amp; UNIT ECONOMICS · COMMERCIAL LOGIC</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spcAft>
                <a:spcPts val="0"/>
              </a:spcAft>
            </a:pPr>
            <a:r>
              <a:rPr sz="2100" b="1" i="0">
                <a:solidFill>
                  <a:srgbClr val="FFFFFF"/>
                </a:solidFill>
                <a:latin typeface="Arial"/>
              </a:rPr>
              <a:t>A High-Margin B2B SaaS Model Aligned with Coaching Cashflows</a:t>
            </a:r>
          </a:p>
        </p:txBody>
      </p:sp>
      <p:sp>
        <p:nvSpPr>
          <p:cNvPr id="5" name="TextBox 4"/>
          <p:cNvSpPr txBox="1"/>
          <p:nvPr/>
        </p:nvSpPr>
        <p:spPr>
          <a:xfrm>
            <a:off x="731520" y="1115568"/>
            <a:ext cx="10698480" cy="320040"/>
          </a:xfrm>
          <a:prstGeom prst="rect">
            <a:avLst/>
          </a:prstGeom>
          <a:noFill/>
        </p:spPr>
        <p:txBody>
          <a:bodyPr wrap="square" lIns="0" rIns="0" tIns="0" bIns="0">
            <a:spAutoFit/>
          </a:bodyPr>
          <a:lstStyle/>
          <a:p>
            <a:pPr>
              <a:spcAft>
                <a:spcPts val="0"/>
              </a:spcAft>
            </a:pPr>
            <a:r>
              <a:rPr sz="1150" b="0" i="0">
                <a:solidFill>
                  <a:srgbClr val="94A3B8"/>
                </a:solidFill>
                <a:latin typeface="Arial"/>
              </a:rPr>
              <a:t>Annual contract packaging resolves post-exam seasonality; 1.80x immediate ROI for institute owners.</a:t>
            </a:r>
          </a:p>
        </p:txBody>
      </p:sp>
      <p:graphicFrame>
        <p:nvGraphicFramePr>
          <p:cNvPr id="6" name="Table 5"/>
          <p:cNvGraphicFramePr>
            <a:graphicFrameLocks noGrp="1"/>
          </p:cNvGraphicFramePr>
          <p:nvPr/>
        </p:nvGraphicFramePr>
        <p:xfrm>
          <a:off x="731520" y="1645920"/>
          <a:ext cx="6217920" cy="2926080"/>
        </p:xfrm>
        <a:graphic>
          <a:graphicData uri="http://schemas.openxmlformats.org/drawingml/2006/table">
            <a:tbl>
              <a:tblPr firstRow="1" bandRow="1">
                <a:tableStyleId>{5C22544A-7EE6-4342-B048-85BDC9FD1C3A}</a:tableStyleId>
              </a:tblPr>
              <a:tblGrid>
                <a:gridCol w="1645920"/>
                <a:gridCol w="1371600"/>
                <a:gridCol w="1371600"/>
                <a:gridCol w="1828800"/>
              </a:tblGrid>
              <a:tr h="731520">
                <a:tc>
                  <a:txBody>
                    <a:bodyPr/>
                    <a:lstStyle/>
                    <a:p>
                      <a:r>
                        <a:rPr sz="850" b="1">
                          <a:solidFill>
                            <a:srgbClr val="06B6D4"/>
                          </a:solidFill>
                          <a:latin typeface="Arial"/>
                        </a:rPr>
                        <a:t>TIER</a:t>
                      </a:r>
                    </a:p>
                  </a:txBody>
                  <a:tcPr>
                    <a:solidFill>
                      <a:srgbClr val="182235"/>
                    </a:solidFill>
                  </a:tcPr>
                </a:tc>
                <a:tc>
                  <a:txBody>
                    <a:bodyPr/>
                    <a:lstStyle/>
                    <a:p>
                      <a:r>
                        <a:rPr sz="850" b="1">
                          <a:solidFill>
                            <a:srgbClr val="06B6D4"/>
                          </a:solidFill>
                          <a:latin typeface="Arial"/>
                        </a:rPr>
                        <a:t>PRICE / MO</a:t>
                      </a:r>
                    </a:p>
                  </a:txBody>
                  <a:tcPr>
                    <a:solidFill>
                      <a:srgbClr val="182235"/>
                    </a:solidFill>
                  </a:tcPr>
                </a:tc>
                <a:tc>
                  <a:txBody>
                    <a:bodyPr/>
                    <a:lstStyle/>
                    <a:p>
                      <a:r>
                        <a:rPr sz="850" b="1">
                          <a:solidFill>
                            <a:srgbClr val="06B6D4"/>
                          </a:solidFill>
                          <a:latin typeface="Arial"/>
                        </a:rPr>
                        <a:t>ANNUAL PLAN</a:t>
                      </a:r>
                    </a:p>
                  </a:txBody>
                  <a:tcPr>
                    <a:solidFill>
                      <a:srgbClr val="182235"/>
                    </a:solidFill>
                  </a:tcPr>
                </a:tc>
                <a:tc>
                  <a:txBody>
                    <a:bodyPr/>
                    <a:lstStyle/>
                    <a:p>
                      <a:r>
                        <a:rPr sz="850" b="1">
                          <a:solidFill>
                            <a:srgbClr val="06B6D4"/>
                          </a:solidFill>
                          <a:latin typeface="Arial"/>
                        </a:rPr>
                        <a:t>CAPACITY &amp; SCOPE</a:t>
                      </a:r>
                    </a:p>
                  </a:txBody>
                  <a:tcPr>
                    <a:solidFill>
                      <a:srgbClr val="182235"/>
                    </a:solidFill>
                  </a:tcPr>
                </a:tc>
              </a:tr>
              <a:tr h="731520">
                <a:tc>
                  <a:txBody>
                    <a:bodyPr/>
                    <a:lstStyle/>
                    <a:p>
                      <a:r>
                        <a:rPr sz="850" b="1">
                          <a:solidFill>
                            <a:srgbClr val="FFFFFF"/>
                          </a:solidFill>
                          <a:latin typeface="Arial"/>
                        </a:rPr>
                        <a:t>Starter</a:t>
                      </a:r>
                    </a:p>
                  </a:txBody>
                  <a:tcPr>
                    <a:solidFill>
                      <a:srgbClr val="070B14"/>
                    </a:solidFill>
                  </a:tcPr>
                </a:tc>
                <a:tc>
                  <a:txBody>
                    <a:bodyPr/>
                    <a:lstStyle/>
                    <a:p>
                      <a:r>
                        <a:rPr sz="850" b="0">
                          <a:solidFill>
                            <a:srgbClr val="E2E8F0"/>
                          </a:solidFill>
                          <a:latin typeface="Arial"/>
                        </a:rPr>
                        <a:t>₹7,999 (~$96)</a:t>
                      </a:r>
                    </a:p>
                  </a:txBody>
                  <a:tcPr>
                    <a:solidFill>
                      <a:srgbClr val="070B14"/>
                    </a:solidFill>
                  </a:tcPr>
                </a:tc>
                <a:tc>
                  <a:txBody>
                    <a:bodyPr/>
                    <a:lstStyle/>
                    <a:p>
                      <a:r>
                        <a:rPr sz="850" b="0">
                          <a:solidFill>
                            <a:srgbClr val="E2E8F0"/>
                          </a:solidFill>
                          <a:latin typeface="Arial"/>
                        </a:rPr>
                        <a:t>₹79,999 / yr</a:t>
                      </a:r>
                    </a:p>
                  </a:txBody>
                  <a:tcPr>
                    <a:solidFill>
                      <a:srgbClr val="070B14"/>
                    </a:solidFill>
                  </a:tcPr>
                </a:tc>
                <a:tc>
                  <a:txBody>
                    <a:bodyPr/>
                    <a:lstStyle/>
                    <a:p>
                      <a:r>
                        <a:rPr sz="850" b="0">
                          <a:solidFill>
                            <a:srgbClr val="E2E8F0"/>
                          </a:solidFill>
                          <a:latin typeface="Arial"/>
                        </a:rPr>
                        <a:t>Up to 300 std | CSV/OMR Ingestion | LightGBM Risk Triage</a:t>
                      </a:r>
                    </a:p>
                  </a:txBody>
                  <a:tcPr>
                    <a:solidFill>
                      <a:srgbClr val="070B14"/>
                    </a:solidFill>
                  </a:tcPr>
                </a:tc>
              </a:tr>
              <a:tr h="731520">
                <a:tc>
                  <a:txBody>
                    <a:bodyPr/>
                    <a:lstStyle/>
                    <a:p>
                      <a:r>
                        <a:rPr sz="850" b="1">
                          <a:solidFill>
                            <a:srgbClr val="38BDF8"/>
                          </a:solidFill>
                          <a:latin typeface="Arial"/>
                        </a:rPr>
                        <a:t>Growth (Flagship)</a:t>
                      </a:r>
                    </a:p>
                  </a:txBody>
                  <a:tcPr>
                    <a:solidFill>
                      <a:srgbClr val="0F172A"/>
                    </a:solidFill>
                  </a:tcPr>
                </a:tc>
                <a:tc>
                  <a:txBody>
                    <a:bodyPr/>
                    <a:lstStyle/>
                    <a:p>
                      <a:r>
                        <a:rPr sz="850" b="0">
                          <a:solidFill>
                            <a:srgbClr val="E2E8F0"/>
                          </a:solidFill>
                          <a:latin typeface="Arial"/>
                        </a:rPr>
                        <a:t>₹14,999 (~$180)</a:t>
                      </a:r>
                    </a:p>
                  </a:txBody>
                  <a:tcPr>
                    <a:solidFill>
                      <a:srgbClr val="0F172A"/>
                    </a:solidFill>
                  </a:tcPr>
                </a:tc>
                <a:tc>
                  <a:txBody>
                    <a:bodyPr/>
                    <a:lstStyle/>
                    <a:p>
                      <a:r>
                        <a:rPr sz="850" b="0">
                          <a:solidFill>
                            <a:srgbClr val="E2E8F0"/>
                          </a:solidFill>
                          <a:latin typeface="Arial"/>
                        </a:rPr>
                        <a:t>₹1,49,999 / yr</a:t>
                      </a:r>
                    </a:p>
                  </a:txBody>
                  <a:tcPr>
                    <a:solidFill>
                      <a:srgbClr val="0F172A"/>
                    </a:solidFill>
                  </a:tcPr>
                </a:tc>
                <a:tc>
                  <a:txBody>
                    <a:bodyPr/>
                    <a:lstStyle/>
                    <a:p>
                      <a:r>
                        <a:rPr sz="850" b="0">
                          <a:solidFill>
                            <a:srgbClr val="E2E8F0"/>
                          </a:solidFill>
                          <a:latin typeface="Arial"/>
                        </a:rPr>
                        <a:t>Up to 1,000 std | Full IRT/BKT | Bilingual Parent Reports | 3 Seats</a:t>
                      </a:r>
                    </a:p>
                  </a:txBody>
                  <a:tcPr>
                    <a:solidFill>
                      <a:srgbClr val="0F172A"/>
                    </a:solidFill>
                  </a:tcPr>
                </a:tc>
              </a:tr>
              <a:tr h="731520">
                <a:tc>
                  <a:txBody>
                    <a:bodyPr/>
                    <a:lstStyle/>
                    <a:p>
                      <a:r>
                        <a:rPr sz="850" b="1">
                          <a:solidFill>
                            <a:srgbClr val="FFFFFF"/>
                          </a:solidFill>
                          <a:latin typeface="Arial"/>
                        </a:rPr>
                        <a:t>Enterprise</a:t>
                      </a:r>
                    </a:p>
                  </a:txBody>
                  <a:tcPr>
                    <a:solidFill>
                      <a:srgbClr val="070B14"/>
                    </a:solidFill>
                  </a:tcPr>
                </a:tc>
                <a:tc>
                  <a:txBody>
                    <a:bodyPr/>
                    <a:lstStyle/>
                    <a:p>
                      <a:r>
                        <a:rPr sz="850" b="0">
                          <a:solidFill>
                            <a:srgbClr val="E2E8F0"/>
                          </a:solidFill>
                          <a:latin typeface="Arial"/>
                        </a:rPr>
                        <a:t>₹29,999 (~$360)</a:t>
                      </a:r>
                    </a:p>
                  </a:txBody>
                  <a:tcPr>
                    <a:solidFill>
                      <a:srgbClr val="070B14"/>
                    </a:solidFill>
                  </a:tcPr>
                </a:tc>
                <a:tc>
                  <a:txBody>
                    <a:bodyPr/>
                    <a:lstStyle/>
                    <a:p>
                      <a:r>
                        <a:rPr sz="850" b="0">
                          <a:solidFill>
                            <a:srgbClr val="E2E8F0"/>
                          </a:solidFill>
                          <a:latin typeface="Arial"/>
                        </a:rPr>
                        <a:t>₹2,99,999 / yr</a:t>
                      </a:r>
                    </a:p>
                  </a:txBody>
                  <a:tcPr>
                    <a:solidFill>
                      <a:srgbClr val="070B14"/>
                    </a:solidFill>
                  </a:tcPr>
                </a:tc>
                <a:tc>
                  <a:txBody>
                    <a:bodyPr/>
                    <a:lstStyle/>
                    <a:p>
                      <a:r>
                        <a:rPr sz="850" b="0">
                          <a:solidFill>
                            <a:srgbClr val="E2E8F0"/>
                          </a:solidFill>
                          <a:latin typeface="Arial"/>
                        </a:rPr>
                        <a:t>Up to 3,000 std | Multi-Branch Consolidation | Custom Connectors</a:t>
                      </a:r>
                    </a:p>
                  </a:txBody>
                  <a:tcPr>
                    <a:solidFill>
                      <a:srgbClr val="070B14"/>
                    </a:solidFill>
                  </a:tcPr>
                </a:tc>
              </a:tr>
            </a:tbl>
          </a:graphicData>
        </a:graphic>
      </p:graphicFrame>
      <p:sp>
        <p:nvSpPr>
          <p:cNvPr id="7" name="Rounded Rectangle 6"/>
          <p:cNvSpPr/>
          <p:nvPr/>
        </p:nvSpPr>
        <p:spPr>
          <a:xfrm>
            <a:off x="7132320" y="1645920"/>
            <a:ext cx="4297680" cy="46634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1783080"/>
            <a:ext cx="3840480" cy="4389120"/>
          </a:xfrm>
          <a:prstGeom prst="rect">
            <a:avLst/>
          </a:prstGeom>
          <a:noFill/>
        </p:spPr>
        <p:txBody>
          <a:bodyPr wrap="square">
            <a:spAutoFit/>
          </a:bodyPr>
          <a:lstStyle/>
          <a:p>
            <a:pPr>
              <a:spcAft>
                <a:spcPts val="200"/>
              </a:spcAft>
            </a:pPr>
            <a:r>
              <a:rPr sz="1100" b="1" i="0">
                <a:solidFill>
                  <a:srgbClr val="10B981"/>
                </a:solidFill>
                <a:latin typeface="Arial"/>
              </a:rPr>
              <a:t>THE OWNER'S VALUE EQUATION</a:t>
            </a:r>
          </a:p>
          <a:p>
            <a:pPr>
              <a:spcAft>
                <a:spcPts val="400"/>
              </a:spcAft>
            </a:pPr>
            <a:r>
              <a:rPr sz="2800" b="1" i="0">
                <a:solidFill>
                  <a:srgbClr val="FFFFFF"/>
                </a:solidFill>
                <a:latin typeface="Arial"/>
              </a:rPr>
              <a:t>1.80x Immediate ROI</a:t>
            </a:r>
          </a:p>
          <a:p>
            <a:pPr>
              <a:spcAft>
                <a:spcPts val="0"/>
              </a:spcAft>
            </a:pPr>
            <a:r>
              <a:rPr sz="950" b="0" i="0">
                <a:solidFill>
                  <a:srgbClr val="E2E8F0"/>
                </a:solidFill>
                <a:latin typeface="Arial"/>
              </a:rPr>
              <a:t>• Typical Institute: 400 students paying ₹60,000/yr over 10 months (₹6,000/mo).</a:t>
            </a:r>
            <a:br/>
            <a:br/>
            <a:r>
              <a:rPr sz="950" b="0" i="0">
                <a:solidFill>
                  <a:srgbClr val="E2E8F0"/>
                </a:solidFill>
                <a:latin typeface="Arial"/>
              </a:rPr>
              <a:t>• Mid-Session Bleed: 12% drop out around month 4 -&gt; 48 students default on ₹36,000 remaining fees = ₹17.28L lost.</a:t>
            </a:r>
            <a:br/>
            <a:br/>
            <a:r>
              <a:rPr sz="950" b="0" i="0">
                <a:solidFill>
                  <a:srgbClr val="E2E8F0"/>
                </a:solidFill>
                <a:latin typeface="Arial"/>
              </a:rPr>
              <a:t>• Target Reduction: Preventing 20% of dropouts retains 9.6 students = ₹3,45,600 saved tuition.</a:t>
            </a:r>
            <a:br/>
            <a:br/>
            <a:r>
              <a:rPr sz="950" b="0" i="0">
                <a:solidFill>
                  <a:srgbClr val="E2E8F0"/>
                </a:solidFill>
                <a:latin typeface="Arial"/>
              </a:rPr>
              <a:t>• Platform Cost: 400 std @ ₹40/mo = ₹1,92,000/year.</a:t>
            </a:r>
            <a:br/>
            <a:br/>
            <a:r>
              <a:rPr sz="950" b="0" i="0">
                <a:solidFill>
                  <a:srgbClr val="E2E8F0"/>
                </a:solidFill>
                <a:latin typeface="Arial"/>
              </a:rPr>
              <a:t>• Net Annual Gain: +₹1,53,600 / year.</a:t>
            </a:r>
            <a:br/>
            <a:br/>
            <a:r>
              <a:rPr sz="950" b="0" i="0">
                <a:solidFill>
                  <a:srgbClr val="E2E8F0"/>
                </a:solidFill>
                <a:latin typeface="Arial"/>
              </a:rPr>
              <a:t>• Breakeven Point: Retaining just 5.3 students covers 100% of platform subscription cost!</a:t>
            </a:r>
          </a:p>
        </p:txBody>
      </p:sp>
      <p:sp>
        <p:nvSpPr>
          <p:cNvPr id="9" name="Rounded Rectangle 8"/>
          <p:cNvSpPr/>
          <p:nvPr/>
        </p:nvSpPr>
        <p:spPr>
          <a:xfrm>
            <a:off x="731520" y="4709160"/>
            <a:ext cx="6217920" cy="1600200"/>
          </a:xfrm>
          <a:prstGeom prst="roundRect">
            <a:avLst/>
          </a:prstGeom>
          <a:solidFill>
            <a:srgbClr val="182235"/>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00600"/>
            <a:ext cx="5852160" cy="1417320"/>
          </a:xfrm>
          <a:prstGeom prst="rect">
            <a:avLst/>
          </a:prstGeom>
          <a:noFill/>
        </p:spPr>
        <p:txBody>
          <a:bodyPr wrap="square">
            <a:spAutoFit/>
          </a:bodyPr>
          <a:lstStyle/>
          <a:p>
            <a:pPr>
              <a:spcAft>
                <a:spcPts val="300"/>
              </a:spcAft>
            </a:pPr>
            <a:r>
              <a:rPr sz="1000" b="1" i="0">
                <a:solidFill>
                  <a:srgbClr val="818CF8"/>
                </a:solidFill>
                <a:latin typeface="Arial"/>
              </a:rPr>
              <a:t>EXPANSION &amp; MONETIZATION OPPORTUNITIES</a:t>
            </a:r>
          </a:p>
          <a:p>
            <a:pPr>
              <a:spcAft>
                <a:spcPts val="0"/>
              </a:spcAft>
            </a:pPr>
            <a:r>
              <a:rPr sz="900" b="0" i="0">
                <a:solidFill>
                  <a:srgbClr val="E2E8F0"/>
                </a:solidFill>
                <a:latin typeface="Arial"/>
              </a:rPr>
              <a:t>1. Parent Subscription Add-on (B2B2C): ₹99/mo for on-demand AI doubt solver &amp; detailed ranking analysis.</a:t>
            </a:r>
            <a:br/>
            <a:r>
              <a:rPr sz="900" b="0" i="0">
                <a:solidFill>
                  <a:srgbClr val="E2E8F0"/>
                </a:solidFill>
                <a:latin typeface="Arial"/>
              </a:rPr>
              <a:t>2. Mock Test Item Marketplace: High-margin cross-institute test series licensing for top question banks.</a:t>
            </a:r>
            <a:br/>
            <a:r>
              <a:rPr sz="900" b="0" i="0">
                <a:solidFill>
                  <a:srgbClr val="E2E8F0"/>
                </a:solidFill>
                <a:latin typeface="Arial"/>
              </a:rPr>
              <a:t>3. Enterprise Coaching Chains: Centralized HQ analytics across 20+ branches.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lIns="0" rIns="0" tIns="0" bIns="0">
            <a:spAutoFit/>
          </a:bodyPr>
          <a:lstStyle/>
          <a:p>
            <a:pPr>
              <a:spcAft>
                <a:spcPts val="0"/>
              </a:spcAft>
            </a:pPr>
            <a:r>
              <a:rPr sz="950" b="1" i="0">
                <a:solidFill>
                  <a:srgbClr val="06B6D4"/>
                </a:solidFill>
                <a:latin typeface="Arial"/>
              </a:rPr>
              <a:t>FINANCIAL VIABILITY · UNIT ECONOMICS &amp; BREAK-EVEN</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spcAft>
                <a:spcPts val="0"/>
              </a:spcAft>
            </a:pPr>
            <a:r>
              <a:rPr sz="2100" b="1" i="0">
                <a:solidFill>
                  <a:srgbClr val="FFFFFF"/>
                </a:solidFill>
                <a:latin typeface="Arial"/>
              </a:rPr>
              <a:t>72% Contribution Margins, 16.5x LTV/CAC &amp; Month 9 Break-Even</a:t>
            </a:r>
          </a:p>
        </p:txBody>
      </p:sp>
      <p:sp>
        <p:nvSpPr>
          <p:cNvPr id="5" name="TextBox 4"/>
          <p:cNvSpPr txBox="1"/>
          <p:nvPr/>
        </p:nvSpPr>
        <p:spPr>
          <a:xfrm>
            <a:off x="731520" y="1115568"/>
            <a:ext cx="10698480" cy="320040"/>
          </a:xfrm>
          <a:prstGeom prst="rect">
            <a:avLst/>
          </a:prstGeom>
          <a:noFill/>
        </p:spPr>
        <p:txBody>
          <a:bodyPr wrap="square" lIns="0" rIns="0" tIns="0" bIns="0">
            <a:spAutoFit/>
          </a:bodyPr>
          <a:lstStyle/>
          <a:p>
            <a:pPr>
              <a:spcAft>
                <a:spcPts val="0"/>
              </a:spcAft>
            </a:pPr>
            <a:r>
              <a:rPr sz="1150" b="0" i="0">
                <a:solidFill>
                  <a:srgbClr val="94A3B8"/>
                </a:solidFill>
                <a:latin typeface="Arial"/>
              </a:rPr>
              <a:t>Live Excel model verified: High capital efficiency with self-funded cashflow positivity.</a:t>
            </a:r>
          </a:p>
        </p:txBody>
      </p:sp>
      <p:sp>
        <p:nvSpPr>
          <p:cNvPr id="6" name="Rounded Rectangle 5"/>
          <p:cNvSpPr/>
          <p:nvPr/>
        </p:nvSpPr>
        <p:spPr>
          <a:xfrm>
            <a:off x="731520" y="1645920"/>
            <a:ext cx="5257800" cy="46634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892040" cy="4389120"/>
          </a:xfrm>
          <a:prstGeom prst="rect">
            <a:avLst/>
          </a:prstGeom>
          <a:noFill/>
        </p:spPr>
        <p:txBody>
          <a:bodyPr wrap="square">
            <a:spAutoFit/>
          </a:bodyPr>
          <a:lstStyle/>
          <a:p>
            <a:pPr>
              <a:spcAft>
                <a:spcPts val="200"/>
              </a:spcAft>
            </a:pPr>
            <a:r>
              <a:rPr sz="1100" b="1" i="0">
                <a:solidFill>
                  <a:srgbClr val="06B6D4"/>
                </a:solidFill>
                <a:latin typeface="Arial"/>
              </a:rPr>
              <a:t>PLATFORM UNIT ECONOMICS (PER INSTITUTE / MO)</a:t>
            </a:r>
          </a:p>
          <a:p>
            <a:pPr>
              <a:spcAft>
                <a:spcPts val="400"/>
              </a:spcAft>
            </a:pPr>
            <a:r>
              <a:rPr sz="2600" b="1" i="0">
                <a:solidFill>
                  <a:srgbClr val="FFFFFF"/>
                </a:solidFill>
                <a:latin typeface="Arial"/>
              </a:rPr>
              <a:t>₹11,580 Gross Profit / Mo</a:t>
            </a:r>
          </a:p>
          <a:p>
            <a:pPr>
              <a:spcAft>
                <a:spcPts val="0"/>
              </a:spcAft>
            </a:pPr>
            <a:r>
              <a:rPr sz="950" b="0" i="0">
                <a:solidFill>
                  <a:srgbClr val="E2E8F0"/>
                </a:solidFill>
                <a:latin typeface="Arial"/>
              </a:rPr>
              <a:t>• Monthly Revenue per Institute (400 std @ ₹40): ₹16,000</a:t>
            </a:r>
            <a:br/>
            <a:r>
              <a:rPr sz="950" b="0" i="0">
                <a:solidFill>
                  <a:srgbClr val="E2E8F0"/>
                </a:solidFill>
                <a:latin typeface="Arial"/>
              </a:rPr>
              <a:t>• Direct COGS (Hosting + AI + WhatsApp @ ₹4.80/std): ₹1,920</a:t>
            </a:r>
            <a:br/>
            <a:r>
              <a:rPr sz="950" b="0" i="0">
                <a:solidFill>
                  <a:srgbClr val="E2E8F0"/>
                </a:solidFill>
                <a:latin typeface="Arial"/>
              </a:rPr>
              <a:t>• Allocated Customer Success &amp; Field Support: ₹2,500</a:t>
            </a:r>
            <a:br/>
            <a:r>
              <a:rPr sz="950" b="0" i="0">
                <a:solidFill>
                  <a:srgbClr val="E2E8F0"/>
                </a:solidFill>
                <a:latin typeface="Arial"/>
              </a:rPr>
              <a:t>• Total Monthly Operational COGS: ₹4,420</a:t>
            </a:r>
            <a:br/>
            <a:r>
              <a:rPr sz="950" b="0" i="0">
                <a:solidFill>
                  <a:srgbClr val="E2E8F0"/>
                </a:solidFill>
                <a:latin typeface="Arial"/>
              </a:rPr>
              <a:t>• Contribution Margin: ₹11,580 (72.4% Gross Margin; 88% on pure infra)</a:t>
            </a:r>
            <a:br/>
            <a:r>
              <a:rPr sz="950" b="0" i="0">
                <a:solidFill>
                  <a:srgbClr val="E2E8F0"/>
                </a:solidFill>
                <a:latin typeface="Arial"/>
              </a:rPr>
              <a:t>• Customer Acquisition Cost (CAC): ₹22,000</a:t>
            </a:r>
            <a:br/>
            <a:r>
              <a:rPr sz="950" b="0" i="0">
                <a:solidFill>
                  <a:srgbClr val="E2E8F0"/>
                </a:solidFill>
                <a:latin typeface="Arial"/>
              </a:rPr>
              <a:t>• Concierge Onboarding Cost: ₹6,000 (Month 1 digitization)</a:t>
            </a:r>
            <a:br/>
            <a:r>
              <a:rPr sz="950" b="0" i="0">
                <a:solidFill>
                  <a:srgbClr val="E2E8F0"/>
                </a:solidFill>
                <a:latin typeface="Arial"/>
              </a:rPr>
              <a:t>• Payback Period: 3.8 months</a:t>
            </a:r>
            <a:br/>
            <a:r>
              <a:rPr sz="950" b="0" i="0">
                <a:solidFill>
                  <a:srgbClr val="E2E8F0"/>
                </a:solidFill>
                <a:latin typeface="Arial"/>
              </a:rPr>
              <a:t>• Customer Lifetime Value (at 2.5% monthly churn): ₹4,63,200</a:t>
            </a:r>
            <a:br/>
            <a:r>
              <a:rPr sz="950" b="0" i="0">
                <a:solidFill>
                  <a:srgbClr val="E2E8F0"/>
                </a:solidFill>
                <a:latin typeface="Arial"/>
              </a:rPr>
              <a:t>• LTV / CAC Ratio: 16.5x (World-Class SaaS Efficiency)</a:t>
            </a:r>
          </a:p>
        </p:txBody>
      </p:sp>
      <p:graphicFrame>
        <p:nvGraphicFramePr>
          <p:cNvPr id="8" name="Table 7"/>
          <p:cNvGraphicFramePr>
            <a:graphicFrameLocks noGrp="1"/>
          </p:cNvGraphicFramePr>
          <p:nvPr/>
        </p:nvGraphicFramePr>
        <p:xfrm>
          <a:off x="6172200" y="1645920"/>
          <a:ext cx="5257800" cy="2926080"/>
        </p:xfrm>
        <a:graphic>
          <a:graphicData uri="http://schemas.openxmlformats.org/drawingml/2006/table">
            <a:tbl>
              <a:tblPr firstRow="1" bandRow="1">
                <a:tableStyleId>{5C22544A-7EE6-4342-B048-85BDC9FD1C3A}</a:tableStyleId>
              </a:tblPr>
              <a:tblGrid>
                <a:gridCol w="2240280"/>
                <a:gridCol w="1005840"/>
                <a:gridCol w="1005840"/>
                <a:gridCol w="1005840"/>
              </a:tblGrid>
              <a:tr h="487680">
                <a:tc>
                  <a:txBody>
                    <a:bodyPr/>
                    <a:lstStyle/>
                    <a:p>
                      <a:r>
                        <a:rPr sz="850" b="1">
                          <a:solidFill>
                            <a:srgbClr val="06B6D4"/>
                          </a:solidFill>
                          <a:latin typeface="Arial"/>
                        </a:rPr>
                        <a:t>FINANCIAL METRIC</a:t>
                      </a:r>
                    </a:p>
                  </a:txBody>
                  <a:tcPr>
                    <a:solidFill>
                      <a:srgbClr val="182235"/>
                    </a:solidFill>
                  </a:tcPr>
                </a:tc>
                <a:tc>
                  <a:txBody>
                    <a:bodyPr/>
                    <a:lstStyle/>
                    <a:p>
                      <a:r>
                        <a:rPr sz="850" b="1">
                          <a:solidFill>
                            <a:srgbClr val="06B6D4"/>
                          </a:solidFill>
                          <a:latin typeface="Arial"/>
                        </a:rPr>
                        <a:t>YEAR 1</a:t>
                      </a:r>
                    </a:p>
                  </a:txBody>
                  <a:tcPr>
                    <a:solidFill>
                      <a:srgbClr val="182235"/>
                    </a:solidFill>
                  </a:tcPr>
                </a:tc>
                <a:tc>
                  <a:txBody>
                    <a:bodyPr/>
                    <a:lstStyle/>
                    <a:p>
                      <a:r>
                        <a:rPr sz="850" b="1">
                          <a:solidFill>
                            <a:srgbClr val="06B6D4"/>
                          </a:solidFill>
                          <a:latin typeface="Arial"/>
                        </a:rPr>
                        <a:t>YEAR 2</a:t>
                      </a:r>
                    </a:p>
                  </a:txBody>
                  <a:tcPr>
                    <a:solidFill>
                      <a:srgbClr val="182235"/>
                    </a:solidFill>
                  </a:tcPr>
                </a:tc>
                <a:tc>
                  <a:txBody>
                    <a:bodyPr/>
                    <a:lstStyle/>
                    <a:p>
                      <a:r>
                        <a:rPr sz="850" b="1">
                          <a:solidFill>
                            <a:srgbClr val="06B6D4"/>
                          </a:solidFill>
                          <a:latin typeface="Arial"/>
                        </a:rPr>
                        <a:t>YEAR 3</a:t>
                      </a:r>
                    </a:p>
                  </a:txBody>
                  <a:tcPr>
                    <a:solidFill>
                      <a:srgbClr val="182235"/>
                    </a:solidFill>
                  </a:tcPr>
                </a:tc>
              </a:tr>
              <a:tr h="487680">
                <a:tc>
                  <a:txBody>
                    <a:bodyPr/>
                    <a:lstStyle/>
                    <a:p>
                      <a:r>
                        <a:rPr sz="850" b="1">
                          <a:solidFill>
                            <a:srgbClr val="FFFFFF"/>
                          </a:solidFill>
                          <a:latin typeface="Arial"/>
                        </a:rPr>
                        <a:t>Active Subscribing Institutes</a:t>
                      </a:r>
                    </a:p>
                  </a:txBody>
                  <a:tcPr>
                    <a:solidFill>
                      <a:srgbClr val="070B14"/>
                    </a:solidFill>
                  </a:tcPr>
                </a:tc>
                <a:tc>
                  <a:txBody>
                    <a:bodyPr/>
                    <a:lstStyle/>
                    <a:p>
                      <a:r>
                        <a:rPr sz="850" b="0">
                          <a:solidFill>
                            <a:srgbClr val="E2E8F0"/>
                          </a:solidFill>
                          <a:latin typeface="Arial"/>
                        </a:rPr>
                        <a:t>28</a:t>
                      </a:r>
                    </a:p>
                  </a:txBody>
                  <a:tcPr>
                    <a:solidFill>
                      <a:srgbClr val="070B14"/>
                    </a:solidFill>
                  </a:tcPr>
                </a:tc>
                <a:tc>
                  <a:txBody>
                    <a:bodyPr/>
                    <a:lstStyle/>
                    <a:p>
                      <a:r>
                        <a:rPr sz="850" b="0">
                          <a:solidFill>
                            <a:srgbClr val="E2E8F0"/>
                          </a:solidFill>
                          <a:latin typeface="Arial"/>
                        </a:rPr>
                        <a:t>110</a:t>
                      </a:r>
                    </a:p>
                  </a:txBody>
                  <a:tcPr>
                    <a:solidFill>
                      <a:srgbClr val="070B14"/>
                    </a:solidFill>
                  </a:tcPr>
                </a:tc>
                <a:tc>
                  <a:txBody>
                    <a:bodyPr/>
                    <a:lstStyle/>
                    <a:p>
                      <a:r>
                        <a:rPr sz="850" b="0">
                          <a:solidFill>
                            <a:srgbClr val="E2E8F0"/>
                          </a:solidFill>
                          <a:latin typeface="Arial"/>
                        </a:rPr>
                        <a:t>280</a:t>
                      </a:r>
                    </a:p>
                  </a:txBody>
                  <a:tcPr>
                    <a:solidFill>
                      <a:srgbClr val="070B14"/>
                    </a:solidFill>
                  </a:tcPr>
                </a:tc>
              </a:tr>
              <a:tr h="487680">
                <a:tc>
                  <a:txBody>
                    <a:bodyPr/>
                    <a:lstStyle/>
                    <a:p>
                      <a:r>
                        <a:rPr sz="850" b="1">
                          <a:solidFill>
                            <a:srgbClr val="FFFFFF"/>
                          </a:solidFill>
                          <a:latin typeface="Arial"/>
                        </a:rPr>
                        <a:t>Active Monitored Students</a:t>
                      </a:r>
                    </a:p>
                  </a:txBody>
                  <a:tcPr>
                    <a:solidFill>
                      <a:srgbClr val="070B14"/>
                    </a:solidFill>
                  </a:tcPr>
                </a:tc>
                <a:tc>
                  <a:txBody>
                    <a:bodyPr/>
                    <a:lstStyle/>
                    <a:p>
                      <a:r>
                        <a:rPr sz="850" b="0">
                          <a:solidFill>
                            <a:srgbClr val="E2E8F0"/>
                          </a:solidFill>
                          <a:latin typeface="Arial"/>
                        </a:rPr>
                        <a:t>11,200</a:t>
                      </a:r>
                    </a:p>
                  </a:txBody>
                  <a:tcPr>
                    <a:solidFill>
                      <a:srgbClr val="070B14"/>
                    </a:solidFill>
                  </a:tcPr>
                </a:tc>
                <a:tc>
                  <a:txBody>
                    <a:bodyPr/>
                    <a:lstStyle/>
                    <a:p>
                      <a:r>
                        <a:rPr sz="850" b="0">
                          <a:solidFill>
                            <a:srgbClr val="E2E8F0"/>
                          </a:solidFill>
                          <a:latin typeface="Arial"/>
                        </a:rPr>
                        <a:t>44,000</a:t>
                      </a:r>
                    </a:p>
                  </a:txBody>
                  <a:tcPr>
                    <a:solidFill>
                      <a:srgbClr val="070B14"/>
                    </a:solidFill>
                  </a:tcPr>
                </a:tc>
                <a:tc>
                  <a:txBody>
                    <a:bodyPr/>
                    <a:lstStyle/>
                    <a:p>
                      <a:r>
                        <a:rPr sz="850" b="0">
                          <a:solidFill>
                            <a:srgbClr val="E2E8F0"/>
                          </a:solidFill>
                          <a:latin typeface="Arial"/>
                        </a:rPr>
                        <a:t>1,12,000</a:t>
                      </a:r>
                    </a:p>
                  </a:txBody>
                  <a:tcPr>
                    <a:solidFill>
                      <a:srgbClr val="070B14"/>
                    </a:solidFill>
                  </a:tcPr>
                </a:tc>
              </a:tr>
              <a:tr h="487680">
                <a:tc>
                  <a:txBody>
                    <a:bodyPr/>
                    <a:lstStyle/>
                    <a:p>
                      <a:r>
                        <a:rPr sz="850" b="1">
                          <a:solidFill>
                            <a:srgbClr val="FFFFFF"/>
                          </a:solidFill>
                          <a:latin typeface="Arial"/>
                        </a:rPr>
                        <a:t>Gross Subscription Revenue</a:t>
                      </a:r>
                    </a:p>
                  </a:txBody>
                  <a:tcPr>
                    <a:solidFill>
                      <a:srgbClr val="070B14"/>
                    </a:solidFill>
                  </a:tcPr>
                </a:tc>
                <a:tc>
                  <a:txBody>
                    <a:bodyPr/>
                    <a:lstStyle/>
                    <a:p>
                      <a:r>
                        <a:rPr sz="850" b="0">
                          <a:solidFill>
                            <a:srgbClr val="E2E8F0"/>
                          </a:solidFill>
                          <a:latin typeface="Arial"/>
                        </a:rPr>
                        <a:t>₹32.3 L</a:t>
                      </a:r>
                    </a:p>
                  </a:txBody>
                  <a:tcPr>
                    <a:solidFill>
                      <a:srgbClr val="070B14"/>
                    </a:solidFill>
                  </a:tcPr>
                </a:tc>
                <a:tc>
                  <a:txBody>
                    <a:bodyPr/>
                    <a:lstStyle/>
                    <a:p>
                      <a:r>
                        <a:rPr sz="850" b="0">
                          <a:solidFill>
                            <a:srgbClr val="E2E8F0"/>
                          </a:solidFill>
                          <a:latin typeface="Arial"/>
                        </a:rPr>
                        <a:t>₹1.41 Cr</a:t>
                      </a:r>
                    </a:p>
                  </a:txBody>
                  <a:tcPr>
                    <a:solidFill>
                      <a:srgbClr val="070B14"/>
                    </a:solidFill>
                  </a:tcPr>
                </a:tc>
                <a:tc>
                  <a:txBody>
                    <a:bodyPr/>
                    <a:lstStyle/>
                    <a:p>
                      <a:r>
                        <a:rPr sz="850" b="0">
                          <a:solidFill>
                            <a:srgbClr val="E2E8F0"/>
                          </a:solidFill>
                          <a:latin typeface="Arial"/>
                        </a:rPr>
                        <a:t>₹3.77 Cr</a:t>
                      </a:r>
                    </a:p>
                  </a:txBody>
                  <a:tcPr>
                    <a:solidFill>
                      <a:srgbClr val="070B14"/>
                    </a:solidFill>
                  </a:tcPr>
                </a:tc>
              </a:tr>
              <a:tr h="487680">
                <a:tc>
                  <a:txBody>
                    <a:bodyPr/>
                    <a:lstStyle/>
                    <a:p>
                      <a:r>
                        <a:rPr sz="850" b="1">
                          <a:solidFill>
                            <a:srgbClr val="FFFFFF"/>
                          </a:solidFill>
                          <a:latin typeface="Arial"/>
                        </a:rPr>
                        <a:t>Total Direct COGS</a:t>
                      </a:r>
                    </a:p>
                  </a:txBody>
                  <a:tcPr>
                    <a:solidFill>
                      <a:srgbClr val="070B14"/>
                    </a:solidFill>
                  </a:tcPr>
                </a:tc>
                <a:tc>
                  <a:txBody>
                    <a:bodyPr/>
                    <a:lstStyle/>
                    <a:p>
                      <a:r>
                        <a:rPr sz="850" b="0">
                          <a:solidFill>
                            <a:srgbClr val="E2E8F0"/>
                          </a:solidFill>
                          <a:latin typeface="Arial"/>
                        </a:rPr>
                        <a:t>₹8.9 L</a:t>
                      </a:r>
                    </a:p>
                  </a:txBody>
                  <a:tcPr>
                    <a:solidFill>
                      <a:srgbClr val="070B14"/>
                    </a:solidFill>
                  </a:tcPr>
                </a:tc>
                <a:tc>
                  <a:txBody>
                    <a:bodyPr/>
                    <a:lstStyle/>
                    <a:p>
                      <a:r>
                        <a:rPr sz="850" b="0">
                          <a:solidFill>
                            <a:srgbClr val="E2E8F0"/>
                          </a:solidFill>
                          <a:latin typeface="Arial"/>
                        </a:rPr>
                        <a:t>₹38.8 L</a:t>
                      </a:r>
                    </a:p>
                  </a:txBody>
                  <a:tcPr>
                    <a:solidFill>
                      <a:srgbClr val="070B14"/>
                    </a:solidFill>
                  </a:tcPr>
                </a:tc>
                <a:tc>
                  <a:txBody>
                    <a:bodyPr/>
                    <a:lstStyle/>
                    <a:p>
                      <a:r>
                        <a:rPr sz="850" b="0">
                          <a:solidFill>
                            <a:srgbClr val="E2E8F0"/>
                          </a:solidFill>
                          <a:latin typeface="Arial"/>
                        </a:rPr>
                        <a:t>₹1.04 Cr</a:t>
                      </a:r>
                    </a:p>
                  </a:txBody>
                  <a:tcPr>
                    <a:solidFill>
                      <a:srgbClr val="070B14"/>
                    </a:solidFill>
                  </a:tcPr>
                </a:tc>
              </a:tr>
              <a:tr h="487680">
                <a:tc>
                  <a:txBody>
                    <a:bodyPr/>
                    <a:lstStyle/>
                    <a:p>
                      <a:r>
                        <a:rPr sz="850" b="1">
                          <a:solidFill>
                            <a:srgbClr val="06B6D4"/>
                          </a:solidFill>
                          <a:latin typeface="Arial"/>
                        </a:rPr>
                        <a:t>EBITDA (Operating Profit)</a:t>
                      </a:r>
                    </a:p>
                  </a:txBody>
                  <a:tcPr>
                    <a:solidFill>
                      <a:srgbClr val="0F172A"/>
                    </a:solidFill>
                  </a:tcPr>
                </a:tc>
                <a:tc>
                  <a:txBody>
                    <a:bodyPr/>
                    <a:lstStyle/>
                    <a:p>
                      <a:r>
                        <a:rPr sz="850" b="1">
                          <a:solidFill>
                            <a:srgbClr val="06B6D4"/>
                          </a:solidFill>
                          <a:latin typeface="Arial"/>
                        </a:rPr>
                        <a:t>-₹2.27 L</a:t>
                      </a:r>
                    </a:p>
                  </a:txBody>
                  <a:tcPr>
                    <a:solidFill>
                      <a:srgbClr val="0F172A"/>
                    </a:solidFill>
                  </a:tcPr>
                </a:tc>
                <a:tc>
                  <a:txBody>
                    <a:bodyPr/>
                    <a:lstStyle/>
                    <a:p>
                      <a:r>
                        <a:rPr sz="850" b="1">
                          <a:solidFill>
                            <a:srgbClr val="10B981"/>
                          </a:solidFill>
                          <a:latin typeface="Arial"/>
                        </a:rPr>
                        <a:t>+₹42.8 L</a:t>
                      </a:r>
                    </a:p>
                  </a:txBody>
                  <a:tcPr>
                    <a:solidFill>
                      <a:srgbClr val="0F172A"/>
                    </a:solidFill>
                  </a:tcPr>
                </a:tc>
                <a:tc>
                  <a:txBody>
                    <a:bodyPr/>
                    <a:lstStyle/>
                    <a:p>
                      <a:r>
                        <a:rPr sz="850" b="1">
                          <a:solidFill>
                            <a:srgbClr val="10B981"/>
                          </a:solidFill>
                          <a:latin typeface="Arial"/>
                        </a:rPr>
                        <a:t>+₹1.71 Cr</a:t>
                      </a:r>
                    </a:p>
                  </a:txBody>
                  <a:tcPr>
                    <a:solidFill>
                      <a:srgbClr val="0F172A"/>
                    </a:solidFill>
                  </a:tcPr>
                </a:tc>
              </a:tr>
            </a:tbl>
          </a:graphicData>
        </a:graphic>
      </p:graphicFrame>
      <p:sp>
        <p:nvSpPr>
          <p:cNvPr id="9" name="Rounded Rectangle 8"/>
          <p:cNvSpPr/>
          <p:nvPr/>
        </p:nvSpPr>
        <p:spPr>
          <a:xfrm>
            <a:off x="6172200" y="4709160"/>
            <a:ext cx="5257800" cy="1600200"/>
          </a:xfrm>
          <a:prstGeom prst="roundRect">
            <a:avLst/>
          </a:prstGeom>
          <a:solidFill>
            <a:srgbClr val="182235"/>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4800600"/>
            <a:ext cx="4892040" cy="1417320"/>
          </a:xfrm>
          <a:prstGeom prst="rect">
            <a:avLst/>
          </a:prstGeom>
          <a:noFill/>
        </p:spPr>
        <p:txBody>
          <a:bodyPr wrap="square">
            <a:spAutoFit/>
          </a:bodyPr>
          <a:lstStyle/>
          <a:p>
            <a:pPr>
              <a:spcAft>
                <a:spcPts val="300"/>
              </a:spcAft>
            </a:pPr>
            <a:r>
              <a:rPr sz="1000" b="1" i="0">
                <a:solidFill>
                  <a:srgbClr val="10B981"/>
                </a:solidFill>
                <a:latin typeface="Arial"/>
              </a:rPr>
              <a:t>BREAK-EVEN &amp; CAPITAL EFFICIENCY</a:t>
            </a:r>
          </a:p>
          <a:p>
            <a:pPr>
              <a:spcAft>
                <a:spcPts val="0"/>
              </a:spcAft>
            </a:pPr>
            <a:r>
              <a:rPr sz="900" b="0" i="0">
                <a:solidFill>
                  <a:srgbClr val="E2E8F0"/>
                </a:solidFill>
                <a:latin typeface="Arial"/>
              </a:rPr>
              <a:t>• Break-Even Formula: ₹48,500 Fixed OpEx / ₹14,579 Contribution = 3.33 Institutes (Operational break-even in Month 9 at 18 institutes).</a:t>
            </a:r>
            <a:br/>
            <a:r>
              <a:rPr sz="900" b="0" i="0">
                <a:solidFill>
                  <a:srgbClr val="E2E8F0"/>
                </a:solidFill>
                <a:latin typeface="Arial"/>
              </a:rPr>
              <a:t>• Self-Funded Scale: Cumulative Year 1 burn is only ₹2.27L, funded from founder sweat equity without institutional dilution.</a:t>
            </a:r>
            <a:br/>
            <a:r>
              <a:rPr sz="900" b="0" i="0">
                <a:solidFill>
                  <a:srgbClr val="E2E8F0"/>
                </a:solidFill>
                <a:latin typeface="Arial"/>
              </a:rPr>
              <a:t>• Year 2 Cash Flow: ₹42.8 Lakh EBITDA funds all software engineering and field sales expansion.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lIns="0" rIns="0" tIns="0" bIns="0">
            <a:spAutoFit/>
          </a:bodyPr>
          <a:lstStyle/>
          <a:p>
            <a:pPr>
              <a:spcAft>
                <a:spcPts val="0"/>
              </a:spcAft>
            </a:pPr>
            <a:r>
              <a:rPr sz="950" b="1" i="0">
                <a:solidFill>
                  <a:srgbClr val="06B6D4"/>
                </a:solidFill>
                <a:latin typeface="Arial"/>
              </a:rPr>
              <a:t>GO-TO-MARKET · DISTRIBUTION &amp; EXECUTION</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spcAft>
                <a:spcPts val="0"/>
              </a:spcAft>
            </a:pPr>
            <a:r>
              <a:rPr sz="2100" b="1" i="0">
                <a:solidFill>
                  <a:srgbClr val="FFFFFF"/>
                </a:solidFill>
                <a:latin typeface="Arial"/>
              </a:rPr>
              <a:t>A Disciplined Land-and-Expand Strategy Across Coaching Clusters</a:t>
            </a:r>
          </a:p>
        </p:txBody>
      </p:sp>
      <p:sp>
        <p:nvSpPr>
          <p:cNvPr id="5" name="TextBox 4"/>
          <p:cNvSpPr txBox="1"/>
          <p:nvPr/>
        </p:nvSpPr>
        <p:spPr>
          <a:xfrm>
            <a:off x="731520" y="1115568"/>
            <a:ext cx="10698480" cy="320040"/>
          </a:xfrm>
          <a:prstGeom prst="rect">
            <a:avLst/>
          </a:prstGeom>
          <a:noFill/>
        </p:spPr>
        <p:txBody>
          <a:bodyPr wrap="square" lIns="0" rIns="0" tIns="0" bIns="0">
            <a:spAutoFit/>
          </a:bodyPr>
          <a:lstStyle/>
          <a:p>
            <a:pPr>
              <a:spcAft>
                <a:spcPts val="0"/>
              </a:spcAft>
            </a:pPr>
            <a:r>
              <a:rPr sz="1150" b="0" i="0">
                <a:solidFill>
                  <a:srgbClr val="94A3B8"/>
                </a:solidFill>
                <a:latin typeface="Arial"/>
              </a:rPr>
              <a:t>Focusing on dense competitive prep hubs in Bihar, UP, and Rajasthan with a low-friction entry wedge.</a:t>
            </a:r>
          </a:p>
        </p:txBody>
      </p:sp>
      <p:sp>
        <p:nvSpPr>
          <p:cNvPr id="6" name="Rounded Rectangle 5"/>
          <p:cNvSpPr/>
          <p:nvPr/>
        </p:nvSpPr>
        <p:spPr>
          <a:xfrm>
            <a:off x="731520" y="1645920"/>
            <a:ext cx="3474720" cy="411480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347472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3200400" cy="3291840"/>
          </a:xfrm>
          <a:prstGeom prst="rect">
            <a:avLst/>
          </a:prstGeom>
          <a:noFill/>
        </p:spPr>
        <p:txBody>
          <a:bodyPr wrap="square">
            <a:spAutoFit/>
          </a:bodyPr>
          <a:lstStyle/>
          <a:p>
            <a:pPr>
              <a:spcAft>
                <a:spcPts val="100"/>
              </a:spcAft>
            </a:pPr>
            <a:r>
              <a:rPr sz="1150" b="1" i="0">
                <a:solidFill>
                  <a:srgbClr val="06B6D4"/>
                </a:solidFill>
                <a:latin typeface="Arial"/>
              </a:rPr>
              <a:t>PHASE 1: BEACHHEAD</a:t>
            </a:r>
          </a:p>
          <a:p>
            <a:pPr>
              <a:spcAft>
                <a:spcPts val="600"/>
              </a:spcAft>
            </a:pPr>
            <a:r>
              <a:rPr sz="850" b="1" i="0">
                <a:solidFill>
                  <a:srgbClr val="94A3B8"/>
                </a:solidFill>
                <a:latin typeface="Arial"/>
              </a:rPr>
              <a:t>MONTHS 1–6 (10–15 INSTITUTES)</a:t>
            </a:r>
          </a:p>
          <a:p>
            <a:pPr>
              <a:spcAft>
                <a:spcPts val="0"/>
              </a:spcAft>
            </a:pPr>
            <a:r>
              <a:rPr sz="950" b="0" i="0">
                <a:solidFill>
                  <a:srgbClr val="E2E8F0"/>
                </a:solidFill>
                <a:latin typeface="Arial"/>
              </a:rPr>
              <a:t>• Cluster Focus: Patna (Boring Rd / Kankarbagh), Kota, and Lucknow.</a:t>
            </a:r>
            <a:br/>
            <a:br/>
            <a:r>
              <a:rPr sz="950" b="0" i="0">
                <a:solidFill>
                  <a:srgbClr val="E2E8F0"/>
                </a:solidFill>
                <a:latin typeface="Arial"/>
              </a:rPr>
              <a:t>• Entry Wedge: 'Zero-Friction 30-Day Risk Audit'. Digitizing past term OMRs to prove dropouts DataMoat would have caught.</a:t>
            </a:r>
            <a:br/>
            <a:br/>
            <a:r>
              <a:rPr sz="950" b="0" i="0">
                <a:solidFill>
                  <a:srgbClr val="E2E8F0"/>
                </a:solidFill>
                <a:latin typeface="Arial"/>
              </a:rPr>
              <a:t>• Objective: Validate mobile OMR scan accuracy across diverse paper stocks; secure 10 reference case studies.</a:t>
            </a:r>
          </a:p>
        </p:txBody>
      </p:sp>
      <p:sp>
        <p:nvSpPr>
          <p:cNvPr id="9" name="Rounded Rectangle 8"/>
          <p:cNvSpPr/>
          <p:nvPr/>
        </p:nvSpPr>
        <p:spPr>
          <a:xfrm>
            <a:off x="868680" y="5257800"/>
            <a:ext cx="2286000" cy="347472"/>
          </a:xfrm>
          <a:prstGeom prst="roundRect">
            <a:avLst/>
          </a:prstGeom>
          <a:solidFill>
            <a:srgbClr val="182235"/>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285232"/>
            <a:ext cx="2286000" cy="292608"/>
          </a:xfrm>
          <a:prstGeom prst="rect">
            <a:avLst/>
          </a:prstGeom>
          <a:noFill/>
        </p:spPr>
        <p:txBody>
          <a:bodyPr wrap="none">
            <a:spAutoFit/>
          </a:bodyPr>
          <a:lstStyle/>
          <a:p>
            <a:pPr>
              <a:spcAft>
                <a:spcPts val="0"/>
              </a:spcAft>
            </a:pPr>
            <a:r>
              <a:rPr sz="850" b="1" i="0">
                <a:solidFill>
                  <a:srgbClr val="06B6D4"/>
                </a:solidFill>
                <a:latin typeface="Arial"/>
              </a:rPr>
              <a:t>TARGET: 10 Pilots</a:t>
            </a:r>
          </a:p>
        </p:txBody>
      </p:sp>
      <p:sp>
        <p:nvSpPr>
          <p:cNvPr id="11" name="Rounded Rectangle 10"/>
          <p:cNvSpPr/>
          <p:nvPr/>
        </p:nvSpPr>
        <p:spPr>
          <a:xfrm>
            <a:off x="4343400" y="1645920"/>
            <a:ext cx="3474720" cy="411480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645920"/>
            <a:ext cx="3474720"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783080"/>
            <a:ext cx="3200400" cy="3291840"/>
          </a:xfrm>
          <a:prstGeom prst="rect">
            <a:avLst/>
          </a:prstGeom>
          <a:noFill/>
        </p:spPr>
        <p:txBody>
          <a:bodyPr wrap="square">
            <a:spAutoFit/>
          </a:bodyPr>
          <a:lstStyle/>
          <a:p>
            <a:pPr>
              <a:spcAft>
                <a:spcPts val="100"/>
              </a:spcAft>
            </a:pPr>
            <a:r>
              <a:rPr sz="1150" b="1" i="0">
                <a:solidFill>
                  <a:srgbClr val="818CF8"/>
                </a:solidFill>
                <a:latin typeface="Arial"/>
              </a:rPr>
              <a:t>PHASE 2: PRODUCT-LED EXPANSION</a:t>
            </a:r>
          </a:p>
          <a:p>
            <a:pPr>
              <a:spcAft>
                <a:spcPts val="600"/>
              </a:spcAft>
            </a:pPr>
            <a:r>
              <a:rPr sz="850" b="1" i="0">
                <a:solidFill>
                  <a:srgbClr val="94A3B8"/>
                </a:solidFill>
                <a:latin typeface="Arial"/>
              </a:rPr>
              <a:t>MONTHS 7–18 (50–110 INSTITUTES)</a:t>
            </a:r>
          </a:p>
          <a:p>
            <a:pPr>
              <a:spcAft>
                <a:spcPts val="0"/>
              </a:spcAft>
            </a:pPr>
            <a:r>
              <a:rPr sz="950" b="0" i="0">
                <a:solidFill>
                  <a:srgbClr val="E2E8F0"/>
                </a:solidFill>
                <a:latin typeface="Arial"/>
              </a:rPr>
              <a:t>• Viral Growth: Director referral incentives across coaching associations.</a:t>
            </a:r>
            <a:br/>
            <a:br/>
            <a:r>
              <a:rPr sz="950" b="0" i="0">
                <a:solidFill>
                  <a:srgbClr val="E2E8F0"/>
                </a:solidFill>
                <a:latin typeface="Arial"/>
              </a:rPr>
              <a:t>• Parent WhatsApp Virality: Parents sharing branded progress digests.</a:t>
            </a:r>
            <a:br/>
            <a:br/>
            <a:r>
              <a:rPr sz="950" b="0" i="0">
                <a:solidFill>
                  <a:srgbClr val="E2E8F0"/>
                </a:solidFill>
                <a:latin typeface="Arial"/>
              </a:rPr>
              <a:t>• Geographical Expansion: Enter Jaipur, Indore, and regional chain centers; launch bilingual student doubt bot.</a:t>
            </a:r>
          </a:p>
        </p:txBody>
      </p:sp>
      <p:sp>
        <p:nvSpPr>
          <p:cNvPr id="14" name="Rounded Rectangle 13"/>
          <p:cNvSpPr/>
          <p:nvPr/>
        </p:nvSpPr>
        <p:spPr>
          <a:xfrm>
            <a:off x="4480560" y="5257800"/>
            <a:ext cx="2286000" cy="347472"/>
          </a:xfrm>
          <a:prstGeom prst="roundRect">
            <a:avLst/>
          </a:prstGeom>
          <a:solidFill>
            <a:srgbClr val="182235"/>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5285232"/>
            <a:ext cx="2286000" cy="292608"/>
          </a:xfrm>
          <a:prstGeom prst="rect">
            <a:avLst/>
          </a:prstGeom>
          <a:noFill/>
        </p:spPr>
        <p:txBody>
          <a:bodyPr wrap="none">
            <a:spAutoFit/>
          </a:bodyPr>
          <a:lstStyle/>
          <a:p>
            <a:pPr>
              <a:spcAft>
                <a:spcPts val="0"/>
              </a:spcAft>
            </a:pPr>
            <a:r>
              <a:rPr sz="850" b="1" i="0">
                <a:solidFill>
                  <a:srgbClr val="818CF8"/>
                </a:solidFill>
                <a:latin typeface="Arial"/>
              </a:rPr>
              <a:t>TARGET: 110 Centers</a:t>
            </a:r>
          </a:p>
        </p:txBody>
      </p:sp>
      <p:sp>
        <p:nvSpPr>
          <p:cNvPr id="16" name="Rounded Rectangle 15"/>
          <p:cNvSpPr/>
          <p:nvPr/>
        </p:nvSpPr>
        <p:spPr>
          <a:xfrm>
            <a:off x="7955280" y="1645920"/>
            <a:ext cx="3474720" cy="411480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80" y="1645920"/>
            <a:ext cx="347472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1783080"/>
            <a:ext cx="3200400" cy="3291840"/>
          </a:xfrm>
          <a:prstGeom prst="rect">
            <a:avLst/>
          </a:prstGeom>
          <a:noFill/>
        </p:spPr>
        <p:txBody>
          <a:bodyPr wrap="square">
            <a:spAutoFit/>
          </a:bodyPr>
          <a:lstStyle/>
          <a:p>
            <a:pPr>
              <a:spcAft>
                <a:spcPts val="100"/>
              </a:spcAft>
            </a:pPr>
            <a:r>
              <a:rPr sz="1150" b="1" i="0">
                <a:solidFill>
                  <a:srgbClr val="F59E0B"/>
                </a:solidFill>
                <a:latin typeface="Arial"/>
              </a:rPr>
              <a:t>PHASE 3: STRATEGIC CHANNELS</a:t>
            </a:r>
          </a:p>
          <a:p>
            <a:pPr>
              <a:spcAft>
                <a:spcPts val="600"/>
              </a:spcAft>
            </a:pPr>
            <a:r>
              <a:rPr sz="850" b="1" i="0">
                <a:solidFill>
                  <a:srgbClr val="94A3B8"/>
                </a:solidFill>
                <a:latin typeface="Arial"/>
              </a:rPr>
              <a:t>MONTHS 19–36 (280+ INSTITUTES)</a:t>
            </a:r>
          </a:p>
          <a:p>
            <a:pPr>
              <a:spcAft>
                <a:spcPts val="0"/>
              </a:spcAft>
            </a:pPr>
            <a:r>
              <a:rPr sz="950" b="0" i="0">
                <a:solidFill>
                  <a:srgbClr val="E2E8F0"/>
                </a:solidFill>
                <a:latin typeface="Arial"/>
              </a:rPr>
              <a:t>• Hardware &amp; Publisher Distribution: Partnerships with local OMR paper suppliers, biometric vendors, and test publishers.</a:t>
            </a:r>
            <a:br/>
            <a:br/>
            <a:r>
              <a:rPr sz="950" b="0" i="0">
                <a:solidFill>
                  <a:srgbClr val="E2E8F0"/>
                </a:solidFill>
                <a:latin typeface="Arial"/>
              </a:rPr>
              <a:t>• National Psychometric Item Bank: Monetize cross-institute 2PL IRT benchmarks for large state tuition consortia.</a:t>
            </a:r>
          </a:p>
        </p:txBody>
      </p:sp>
      <p:sp>
        <p:nvSpPr>
          <p:cNvPr id="19" name="Rounded Rectangle 18"/>
          <p:cNvSpPr/>
          <p:nvPr/>
        </p:nvSpPr>
        <p:spPr>
          <a:xfrm>
            <a:off x="8092440" y="5257800"/>
            <a:ext cx="2286000" cy="347472"/>
          </a:xfrm>
          <a:prstGeom prst="roundRect">
            <a:avLst/>
          </a:prstGeom>
          <a:solidFill>
            <a:srgbClr val="182235"/>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5285232"/>
            <a:ext cx="2286000" cy="292608"/>
          </a:xfrm>
          <a:prstGeom prst="rect">
            <a:avLst/>
          </a:prstGeom>
          <a:noFill/>
        </p:spPr>
        <p:txBody>
          <a:bodyPr wrap="none">
            <a:spAutoFit/>
          </a:bodyPr>
          <a:lstStyle/>
          <a:p>
            <a:pPr>
              <a:spcAft>
                <a:spcPts val="0"/>
              </a:spcAft>
            </a:pPr>
            <a:r>
              <a:rPr sz="850" b="1" i="0">
                <a:solidFill>
                  <a:srgbClr val="F59E0B"/>
                </a:solidFill>
                <a:latin typeface="Arial"/>
              </a:rPr>
              <a:t>TARGET: 280+ Centers</a:t>
            </a:r>
          </a:p>
        </p:txBody>
      </p:sp>
      <p:sp>
        <p:nvSpPr>
          <p:cNvPr id="21" name="Rounded Rectangle 20"/>
          <p:cNvSpPr/>
          <p:nvPr/>
        </p:nvSpPr>
        <p:spPr>
          <a:xfrm>
            <a:off x="731520" y="5897880"/>
            <a:ext cx="10698480" cy="594360"/>
          </a:xfrm>
          <a:prstGeom prst="roundRect">
            <a:avLst/>
          </a:prstGeom>
          <a:solidFill>
            <a:srgbClr val="182235"/>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943600"/>
            <a:ext cx="10332720" cy="457200"/>
          </a:xfrm>
          <a:prstGeom prst="rect">
            <a:avLst/>
          </a:prstGeom>
          <a:noFill/>
        </p:spPr>
        <p:txBody>
          <a:bodyPr wrap="none">
            <a:spAutoFit/>
          </a:bodyPr>
          <a:lstStyle/>
          <a:p>
            <a:pPr>
              <a:spcAft>
                <a:spcPts val="0"/>
              </a:spcAft>
            </a:pPr>
            <a:r>
              <a:rPr sz="950" b="1" i="0">
                <a:solidFill>
                  <a:srgbClr val="06B6D4"/>
                </a:solidFill>
                <a:latin typeface="Arial"/>
              </a:rPr>
              <a:t>PILOT SUCCESS METRICS: &gt;= 99.0% OMR scan accuracy | &gt;= 15% dropout reduction in pilot cohort | 100% renewal of pilot institutes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lIns="0" rIns="0" tIns="0" bIns="0">
            <a:spAutoFit/>
          </a:bodyPr>
          <a:lstStyle/>
          <a:p>
            <a:pPr>
              <a:spcAft>
                <a:spcPts val="0"/>
              </a:spcAft>
            </a:pPr>
            <a:r>
              <a:rPr sz="950" b="1" i="0">
                <a:solidFill>
                  <a:srgbClr val="06B6D4"/>
                </a:solidFill>
                <a:latin typeface="Arial"/>
              </a:rPr>
              <a:t>CONCLUSION · THE STRATEGIC PROPOSITION</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spcAft>
                <a:spcPts val="0"/>
              </a:spcAft>
            </a:pPr>
            <a:r>
              <a:rPr sz="2100" b="1" i="0">
                <a:solidFill>
                  <a:srgbClr val="FFFFFF"/>
                </a:solidFill>
                <a:latin typeface="Arial"/>
              </a:rPr>
              <a:t>Transforming EdTech from Operations to Intelligence</a:t>
            </a:r>
          </a:p>
        </p:txBody>
      </p:sp>
      <p:sp>
        <p:nvSpPr>
          <p:cNvPr id="5" name="TextBox 4"/>
          <p:cNvSpPr txBox="1"/>
          <p:nvPr/>
        </p:nvSpPr>
        <p:spPr>
          <a:xfrm>
            <a:off x="731520" y="1115568"/>
            <a:ext cx="10698480" cy="320040"/>
          </a:xfrm>
          <a:prstGeom prst="rect">
            <a:avLst/>
          </a:prstGeom>
          <a:noFill/>
        </p:spPr>
        <p:txBody>
          <a:bodyPr wrap="square" lIns="0" rIns="0" tIns="0" bIns="0">
            <a:spAutoFit/>
          </a:bodyPr>
          <a:lstStyle/>
          <a:p>
            <a:pPr>
              <a:spcAft>
                <a:spcPts val="0"/>
              </a:spcAft>
            </a:pPr>
            <a:r>
              <a:rPr sz="1150" b="0" i="0">
                <a:solidFill>
                  <a:srgbClr val="94A3B8"/>
                </a:solidFill>
                <a:latin typeface="Arial"/>
              </a:rPr>
              <a:t>Building a compounding, high-margin SaaS asset that elevates student outcomes across India.</a:t>
            </a:r>
          </a:p>
        </p:txBody>
      </p:sp>
      <p:sp>
        <p:nvSpPr>
          <p:cNvPr id="6" name="Rounded Rectangle 5"/>
          <p:cNvSpPr/>
          <p:nvPr/>
        </p:nvSpPr>
        <p:spPr>
          <a:xfrm>
            <a:off x="731520" y="1645920"/>
            <a:ext cx="3474720" cy="310896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347472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3200400" cy="2834640"/>
          </a:xfrm>
          <a:prstGeom prst="rect">
            <a:avLst/>
          </a:prstGeom>
          <a:noFill/>
        </p:spPr>
        <p:txBody>
          <a:bodyPr wrap="square">
            <a:spAutoFit/>
          </a:bodyPr>
          <a:lstStyle/>
          <a:p>
            <a:pPr>
              <a:spcAft>
                <a:spcPts val="100"/>
              </a:spcAft>
            </a:pPr>
            <a:r>
              <a:rPr sz="1150" b="1" i="0">
                <a:solidFill>
                  <a:srgbClr val="06B6D4"/>
                </a:solidFill>
                <a:latin typeface="Arial"/>
              </a:rPr>
              <a:t>THE INGESTION LEAP</a:t>
            </a:r>
          </a:p>
          <a:p>
            <a:pPr>
              <a:spcAft>
                <a:spcPts val="500"/>
              </a:spcAft>
            </a:pPr>
            <a:r>
              <a:rPr sz="850" b="1" i="0">
                <a:solidFill>
                  <a:srgbClr val="94A3B8"/>
                </a:solidFill>
                <a:latin typeface="Arial"/>
              </a:rPr>
              <a:t>ZERO ERP DISRUPTION</a:t>
            </a:r>
          </a:p>
          <a:p>
            <a:pPr>
              <a:spcAft>
                <a:spcPts val="0"/>
              </a:spcAft>
            </a:pPr>
            <a:r>
              <a:rPr sz="950" b="0" i="0">
                <a:solidFill>
                  <a:srgbClr val="E2E8F0"/>
                </a:solidFill>
                <a:latin typeface="Arial"/>
              </a:rPr>
              <a:t>Meets coaching institutes where they are. Ingests messy OMRs, WhatsApp chats, and Excels without forcing workflow replacement.</a:t>
            </a:r>
            <a:br/>
            <a:br/>
            <a:r>
              <a:rPr sz="950" b="0" i="0">
                <a:solidFill>
                  <a:srgbClr val="E2E8F0"/>
                </a:solidFill>
                <a:latin typeface="Arial"/>
              </a:rPr>
              <a:t>• Mobile OMR scan in &lt; 1.2s</a:t>
            </a:r>
            <a:br/>
            <a:r>
              <a:rPr sz="950" b="0" i="0">
                <a:solidFill>
                  <a:srgbClr val="E2E8F0"/>
                </a:solidFill>
                <a:latin typeface="Arial"/>
              </a:rPr>
              <a:t>• Offline-first SQLite local sync</a:t>
            </a:r>
            <a:br/>
            <a:r>
              <a:rPr sz="950" b="0" i="0">
                <a:solidFill>
                  <a:srgbClr val="E2E8F0"/>
                </a:solidFill>
                <a:latin typeface="Arial"/>
              </a:rPr>
              <a:t>• 99.4% bubble detection accuracy</a:t>
            </a:r>
          </a:p>
        </p:txBody>
      </p:sp>
      <p:sp>
        <p:nvSpPr>
          <p:cNvPr id="9" name="Rounded Rectangle 8"/>
          <p:cNvSpPr/>
          <p:nvPr/>
        </p:nvSpPr>
        <p:spPr>
          <a:xfrm>
            <a:off x="4343400" y="1645920"/>
            <a:ext cx="3474720" cy="310896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645920"/>
            <a:ext cx="3474720" cy="73152"/>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783080"/>
            <a:ext cx="3200400" cy="2834640"/>
          </a:xfrm>
          <a:prstGeom prst="rect">
            <a:avLst/>
          </a:prstGeom>
          <a:noFill/>
        </p:spPr>
        <p:txBody>
          <a:bodyPr wrap="square">
            <a:spAutoFit/>
          </a:bodyPr>
          <a:lstStyle/>
          <a:p>
            <a:pPr>
              <a:spcAft>
                <a:spcPts val="100"/>
              </a:spcAft>
            </a:pPr>
            <a:r>
              <a:rPr sz="1150" b="1" i="0">
                <a:solidFill>
                  <a:srgbClr val="818CF8"/>
                </a:solidFill>
                <a:latin typeface="Arial"/>
              </a:rPr>
              <a:t>THE PSYCHOMETRIC CORE</a:t>
            </a:r>
          </a:p>
          <a:p>
            <a:pPr>
              <a:spcAft>
                <a:spcPts val="500"/>
              </a:spcAft>
            </a:pPr>
            <a:r>
              <a:rPr sz="850" b="1" i="0">
                <a:solidFill>
                  <a:srgbClr val="94A3B8"/>
                </a:solidFill>
                <a:latin typeface="Arial"/>
              </a:rPr>
              <a:t>SCIENTIFIC LEARNING ANALYTICS</a:t>
            </a:r>
          </a:p>
          <a:p>
            <a:pPr>
              <a:spcAft>
                <a:spcPts val="0"/>
              </a:spcAft>
            </a:pPr>
            <a:r>
              <a:rPr sz="950" b="0" i="0">
                <a:solidFill>
                  <a:srgbClr val="E2E8F0"/>
                </a:solidFill>
                <a:latin typeface="Arial"/>
              </a:rPr>
              <a:t>Replaces crude percentage marks with 2PL Item Response Theory, BKT concept mastery, and calibrated percentile intervals.</a:t>
            </a:r>
            <a:br/>
            <a:br/>
            <a:r>
              <a:rPr sz="950" b="0" i="0">
                <a:solidFill>
                  <a:srgbClr val="E2E8F0"/>
                </a:solidFill>
                <a:latin typeface="Arial"/>
              </a:rPr>
              <a:t>• Decouples ability from difficulty</a:t>
            </a:r>
            <a:br/>
            <a:r>
              <a:rPr sz="950" b="0" i="0">
                <a:solidFill>
                  <a:srgbClr val="E2E8F0"/>
                </a:solidFill>
                <a:latin typeface="Arial"/>
              </a:rPr>
              <a:t>• Honest prediction intervals [P10, P90]</a:t>
            </a:r>
            <a:br/>
            <a:r>
              <a:rPr sz="950" b="0" i="0">
                <a:solidFill>
                  <a:srgbClr val="E2E8F0"/>
                </a:solidFill>
                <a:latin typeface="Arial"/>
              </a:rPr>
              <a:t>• Zero student shaming safeguards</a:t>
            </a:r>
          </a:p>
        </p:txBody>
      </p:sp>
      <p:sp>
        <p:nvSpPr>
          <p:cNvPr id="12" name="Rounded Rectangle 11"/>
          <p:cNvSpPr/>
          <p:nvPr/>
        </p:nvSpPr>
        <p:spPr>
          <a:xfrm>
            <a:off x="7955280" y="1645920"/>
            <a:ext cx="3474720" cy="310896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55280" y="1645920"/>
            <a:ext cx="347472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783080"/>
            <a:ext cx="3200400" cy="2834640"/>
          </a:xfrm>
          <a:prstGeom prst="rect">
            <a:avLst/>
          </a:prstGeom>
          <a:noFill/>
        </p:spPr>
        <p:txBody>
          <a:bodyPr wrap="square">
            <a:spAutoFit/>
          </a:bodyPr>
          <a:lstStyle/>
          <a:p>
            <a:pPr>
              <a:spcAft>
                <a:spcPts val="100"/>
              </a:spcAft>
            </a:pPr>
            <a:r>
              <a:rPr sz="1150" b="1" i="0">
                <a:solidFill>
                  <a:srgbClr val="10B981"/>
                </a:solidFill>
                <a:latin typeface="Arial"/>
              </a:rPr>
              <a:t>THE CAPITAL ADVANTAGE</a:t>
            </a:r>
          </a:p>
          <a:p>
            <a:pPr>
              <a:spcAft>
                <a:spcPts val="500"/>
              </a:spcAft>
            </a:pPr>
            <a:r>
              <a:rPr sz="850" b="1" i="0">
                <a:solidFill>
                  <a:srgbClr val="94A3B8"/>
                </a:solidFill>
                <a:latin typeface="Arial"/>
              </a:rPr>
              <a:t>EXCEPTIONAL UNIT ECONOMICS</a:t>
            </a:r>
          </a:p>
          <a:p>
            <a:pPr>
              <a:spcAft>
                <a:spcPts val="0"/>
              </a:spcAft>
            </a:pPr>
            <a:r>
              <a:rPr sz="950" b="0" i="0">
                <a:solidFill>
                  <a:srgbClr val="E2E8F0"/>
                </a:solidFill>
                <a:latin typeface="Arial"/>
              </a:rPr>
              <a:t>₹4.80/student/mo infrastructure cost delivers 72%+ gross margins, 16.5x LTV/CAC, and self-funded cashflow positivity.</a:t>
            </a:r>
            <a:br/>
            <a:br/>
            <a:r>
              <a:rPr sz="950" b="0" i="0">
                <a:solidFill>
                  <a:srgbClr val="E2E8F0"/>
                </a:solidFill>
                <a:latin typeface="Arial"/>
              </a:rPr>
              <a:t>• Payback in 3.8 months</a:t>
            </a:r>
            <a:br/>
            <a:r>
              <a:rPr sz="950" b="0" i="0">
                <a:solidFill>
                  <a:srgbClr val="E2E8F0"/>
                </a:solidFill>
                <a:latin typeface="Arial"/>
              </a:rPr>
              <a:t>• 1.80x immediate owner ROI</a:t>
            </a:r>
            <a:br/>
            <a:r>
              <a:rPr sz="950" b="0" i="0">
                <a:solidFill>
                  <a:srgbClr val="E2E8F0"/>
                </a:solidFill>
                <a:latin typeface="Arial"/>
              </a:rPr>
              <a:t>• Month 9 operational break-even</a:t>
            </a:r>
          </a:p>
        </p:txBody>
      </p:sp>
      <p:sp>
        <p:nvSpPr>
          <p:cNvPr id="15" name="Rounded Rectangle 14"/>
          <p:cNvSpPr/>
          <p:nvPr/>
        </p:nvSpPr>
        <p:spPr>
          <a:xfrm>
            <a:off x="731520" y="4892040"/>
            <a:ext cx="10698480" cy="1508760"/>
          </a:xfrm>
          <a:prstGeom prst="roundRect">
            <a:avLst/>
          </a:prstGeom>
          <a:solidFill>
            <a:srgbClr val="182235"/>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983480"/>
            <a:ext cx="10149840" cy="1325880"/>
          </a:xfrm>
          <a:prstGeom prst="rect">
            <a:avLst/>
          </a:prstGeom>
          <a:noFill/>
        </p:spPr>
        <p:txBody>
          <a:bodyPr wrap="square">
            <a:spAutoFit/>
          </a:bodyPr>
          <a:lstStyle/>
          <a:p>
            <a:pPr>
              <a:spcAft>
                <a:spcPts val="300"/>
              </a:spcAft>
            </a:pPr>
            <a:r>
              <a:rPr sz="1200" b="0" i="1">
                <a:solidFill>
                  <a:srgbClr val="FFFFFF"/>
                </a:solidFill>
                <a:latin typeface="Arial"/>
              </a:rPr>
              <a:t>"Thousands of institutes run on WhatsApp, Excel and OMR sheets. The data is there. The intelligence is not."</a:t>
            </a:r>
          </a:p>
          <a:p>
            <a:pPr>
              <a:spcAft>
                <a:spcPts val="300"/>
              </a:spcAft>
            </a:pPr>
            <a:r>
              <a:rPr sz="1100" b="1" i="0">
                <a:solidFill>
                  <a:srgbClr val="38BDF8"/>
                </a:solidFill>
                <a:latin typeface="Arial"/>
              </a:rPr>
              <a:t>DataMoat transforms reactive survival into proactive student success.</a:t>
            </a:r>
            <a:br/>
            <a:r>
              <a:rPr sz="1100" b="1" i="0">
                <a:solidFill>
                  <a:srgbClr val="38BDF8"/>
                </a:solidFill>
                <a:latin typeface="Arial"/>
              </a:rPr>
              <a:t>We build the intelligence that turns messy offline data into India's most defensible learning moat.</a:t>
            </a:r>
          </a:p>
          <a:p>
            <a:pPr>
              <a:spcAft>
                <a:spcPts val="0"/>
              </a:spcAft>
            </a:pPr>
            <a:r>
              <a:rPr sz="1000" b="1" i="0">
                <a:solidFill>
                  <a:srgbClr val="818CF8"/>
                </a:solidFill>
                <a:latin typeface="Arial"/>
              </a:rPr>
              <a:t>TEAM INTELLIPARIVART · Thank You. We Welcome Your Questions.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256032"/>
          </a:xfrm>
          <a:prstGeom prst="rect">
            <a:avLst/>
          </a:prstGeom>
          <a:noFill/>
        </p:spPr>
        <p:txBody>
          <a:bodyPr wrap="square" lIns="0" rIns="0" tIns="0" bIns="0">
            <a:spAutoFit/>
          </a:bodyPr>
          <a:lstStyle/>
          <a:p>
            <a:pPr>
              <a:spcAft>
                <a:spcPts val="0"/>
              </a:spcAft>
            </a:pPr>
            <a:r>
              <a:rPr sz="950" b="1" i="0">
                <a:solidFill>
                  <a:srgbClr val="06B6D4"/>
                </a:solidFill>
                <a:latin typeface="Arial"/>
              </a:rPr>
              <a:t>APPENDIX · GOVERNANCE, CITATIONS &amp; DISCLOSURES</a:t>
            </a:r>
          </a:p>
        </p:txBody>
      </p:sp>
      <p:sp>
        <p:nvSpPr>
          <p:cNvPr id="4" name="TextBox 3"/>
          <p:cNvSpPr txBox="1"/>
          <p:nvPr/>
        </p:nvSpPr>
        <p:spPr>
          <a:xfrm>
            <a:off x="731520" y="640080"/>
            <a:ext cx="10698480" cy="502920"/>
          </a:xfrm>
          <a:prstGeom prst="rect">
            <a:avLst/>
          </a:prstGeom>
          <a:noFill/>
        </p:spPr>
        <p:txBody>
          <a:bodyPr wrap="square" lIns="0" rIns="0" tIns="0" bIns="0">
            <a:spAutoFit/>
          </a:bodyPr>
          <a:lstStyle/>
          <a:p>
            <a:pPr>
              <a:spcAft>
                <a:spcPts val="0"/>
              </a:spcAft>
            </a:pPr>
            <a:r>
              <a:rPr sz="2100" b="1" i="0">
                <a:solidFill>
                  <a:srgbClr val="FFFFFF"/>
                </a:solidFill>
                <a:latin typeface="Arial"/>
              </a:rPr>
              <a:t>Mandatory AI Tool Disclosure &amp; Academic Research Foundations</a:t>
            </a:r>
          </a:p>
        </p:txBody>
      </p:sp>
      <p:sp>
        <p:nvSpPr>
          <p:cNvPr id="5" name="TextBox 4"/>
          <p:cNvSpPr txBox="1"/>
          <p:nvPr/>
        </p:nvSpPr>
        <p:spPr>
          <a:xfrm>
            <a:off x="731520" y="1115568"/>
            <a:ext cx="10698480" cy="320040"/>
          </a:xfrm>
          <a:prstGeom prst="rect">
            <a:avLst/>
          </a:prstGeom>
          <a:noFill/>
        </p:spPr>
        <p:txBody>
          <a:bodyPr wrap="square" lIns="0" rIns="0" tIns="0" bIns="0">
            <a:spAutoFit/>
          </a:bodyPr>
          <a:lstStyle/>
          <a:p>
            <a:pPr>
              <a:spcAft>
                <a:spcPts val="0"/>
              </a:spcAft>
            </a:pPr>
            <a:r>
              <a:rPr sz="1150" b="0" i="0">
                <a:solidFill>
                  <a:srgbClr val="94A3B8"/>
                </a:solidFill>
                <a:latin typeface="Arial"/>
              </a:rPr>
              <a:t>Full compliance with Rule 2 disclosures, DPDP Act 2023, MoE 2024, and psychometric literature.</a:t>
            </a:r>
          </a:p>
        </p:txBody>
      </p:sp>
      <p:sp>
        <p:nvSpPr>
          <p:cNvPr id="6" name="Rounded Rectangle 5"/>
          <p:cNvSpPr/>
          <p:nvPr/>
        </p:nvSpPr>
        <p:spPr>
          <a:xfrm>
            <a:off x="731520" y="1645920"/>
            <a:ext cx="5257800" cy="46634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892040" cy="4389120"/>
          </a:xfrm>
          <a:prstGeom prst="rect">
            <a:avLst/>
          </a:prstGeom>
          <a:noFill/>
        </p:spPr>
        <p:txBody>
          <a:bodyPr wrap="square">
            <a:spAutoFit/>
          </a:bodyPr>
          <a:lstStyle/>
          <a:p>
            <a:pPr>
              <a:spcAft>
                <a:spcPts val="400"/>
              </a:spcAft>
            </a:pPr>
            <a:r>
              <a:rPr sz="1100" b="1" i="0">
                <a:solidFill>
                  <a:srgbClr val="06B6D4"/>
                </a:solidFill>
                <a:latin typeface="Arial"/>
              </a:rPr>
              <a:t>MANDATORY AI TOOL DISCLOSURE (RULE 2 COMPLIANCE)</a:t>
            </a:r>
          </a:p>
          <a:p>
            <a:pPr>
              <a:spcAft>
                <a:spcPts val="0"/>
              </a:spcAft>
            </a:pPr>
            <a:r>
              <a:rPr sz="950" b="0" i="0">
                <a:solidFill>
                  <a:srgbClr val="E2E8F0"/>
                </a:solidFill>
                <a:latin typeface="Arial"/>
              </a:rPr>
              <a:t>In strict accordance with Rule 2 of the Participant Guide:</a:t>
            </a:r>
            <a:br/>
            <a:br/>
            <a:r>
              <a:rPr sz="950" b="0" i="0">
                <a:solidFill>
                  <a:srgbClr val="E2E8F0"/>
                </a:solidFill>
                <a:latin typeface="Arial"/>
              </a:rPr>
              <a:t>• AI Tools Utilized: Generative AI assistants (Claude, ChatGPT, Antigravity) were utilized for code scaffolding, synthetic schema generation, LaTeX equation typesetting, and slide structure drafting.</a:t>
            </a:r>
            <a:br/>
            <a:br/>
            <a:r>
              <a:rPr sz="950" b="0" i="0">
                <a:solidFill>
                  <a:srgbClr val="E2E8F0"/>
                </a:solidFill>
                <a:latin typeface="Arial"/>
              </a:rPr>
              <a:t>• Original Team Contribution: All core system architectures, 2PL Item Response Theory psychometric formulations, Bayesian Knowledge Tracing algorithms, financial model structures, unit economics derivations, and well-being safeguards were conceptualized, synthesized, and mathematically verified by Team Intelliparivart.</a:t>
            </a:r>
            <a:br/>
            <a:br/>
            <a:r>
              <a:rPr sz="950" b="0" i="0">
                <a:solidFill>
                  <a:srgbClr val="E2E8F0"/>
                </a:solidFill>
                <a:latin typeface="Arial"/>
              </a:rPr>
              <a:t>• Reproducibility &amp; Defense: Every formula, architecture boundary, and projection presented in this deck is fully explainable and reproducible by the team in the Round 2 offline defense.</a:t>
            </a:r>
          </a:p>
        </p:txBody>
      </p:sp>
      <p:sp>
        <p:nvSpPr>
          <p:cNvPr id="8" name="Rounded Rectangle 7"/>
          <p:cNvSpPr/>
          <p:nvPr/>
        </p:nvSpPr>
        <p:spPr>
          <a:xfrm>
            <a:off x="6172200" y="1645920"/>
            <a:ext cx="5257800" cy="4663440"/>
          </a:xfrm>
          <a:prstGeom prst="roundRect">
            <a:avLst/>
          </a:prstGeom>
          <a:solidFill>
            <a:srgbClr val="0F172A"/>
          </a:solidFill>
          <a:ln>
            <a:solidFill>
              <a:srgbClr val="26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783080"/>
            <a:ext cx="4892040" cy="4389120"/>
          </a:xfrm>
          <a:prstGeom prst="rect">
            <a:avLst/>
          </a:prstGeom>
          <a:noFill/>
        </p:spPr>
        <p:txBody>
          <a:bodyPr wrap="square">
            <a:spAutoFit/>
          </a:bodyPr>
          <a:lstStyle/>
          <a:p>
            <a:pPr>
              <a:spcAft>
                <a:spcPts val="400"/>
              </a:spcAft>
            </a:pPr>
            <a:r>
              <a:rPr sz="1100" b="1" i="0">
                <a:solidFill>
                  <a:srgbClr val="818CF8"/>
                </a:solidFill>
                <a:latin typeface="Arial"/>
              </a:rPr>
              <a:t>ACADEMIC &amp; REGULATORY CITATIONS</a:t>
            </a:r>
          </a:p>
          <a:p>
            <a:pPr>
              <a:spcAft>
                <a:spcPts val="0"/>
              </a:spcAft>
            </a:pPr>
            <a:r>
              <a:rPr sz="900" b="0" i="0">
                <a:solidFill>
                  <a:srgbClr val="E2E8F0"/>
                </a:solidFill>
                <a:latin typeface="Arial"/>
              </a:rPr>
              <a:t>1. Item Response Theory: Lord, F. M. (1980). Applications of Item Response Theory to Practical Testing Problems. Routledge. (2PL IRT latent trait formulation).</a:t>
            </a:r>
            <a:br/>
            <a:br/>
            <a:r>
              <a:rPr sz="900" b="0" i="0">
                <a:solidFill>
                  <a:srgbClr val="E2E8F0"/>
                </a:solidFill>
                <a:latin typeface="Arial"/>
              </a:rPr>
              <a:t>2. Knowledge Tracing: Corbett, A. T., &amp; Anderson, J. R. (1994). Knowledge Tracing: Modeling the Acquisition of Procedural Knowledge. User Modeling and User-Adapted Interaction, 4(4), 253-278.</a:t>
            </a:r>
            <a:br/>
            <a:br/>
            <a:r>
              <a:rPr sz="900" b="0" i="0">
                <a:solidFill>
                  <a:srgbClr val="E2E8F0"/>
                </a:solidFill>
                <a:latin typeface="Arial"/>
              </a:rPr>
              <a:t>3. Explainable AI: Lundberg, S. M., &amp; Lee, S. I. (2017). A Unified Approach to Interpreting Model Predictions (TreeSHAP). NeurIPS 30.</a:t>
            </a:r>
            <a:br/>
            <a:br/>
            <a:r>
              <a:rPr sz="900" b="0" i="0">
                <a:solidFill>
                  <a:srgbClr val="E2E8F0"/>
                </a:solidFill>
                <a:latin typeface="Arial"/>
              </a:rPr>
              <a:t>4. Data Protection: Ministry of Law and Justice, Govt. of India. (2023). Digital Personal Data Protection Act, 2023 (Section 9: Processing of personal data of children).</a:t>
            </a:r>
            <a:br/>
            <a:br/>
            <a:r>
              <a:rPr sz="900" b="0" i="0">
                <a:solidFill>
                  <a:srgbClr val="E2E8F0"/>
                </a:solidFill>
                <a:latin typeface="Arial"/>
              </a:rPr>
              <a:t>5. Coaching Guidelines: Ministry of Education, Govt. of India. (2024). Guidelines for Regulation of Coaching Centres.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