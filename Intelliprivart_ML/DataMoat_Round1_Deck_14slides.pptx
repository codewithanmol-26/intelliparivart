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e2e6759-d89a-aabc-7d55-5e697adee6ae}">
          <p14:sldIdLst>
            <p14:sldId id="256"/>
          </p14:sldIdLst>
        </p14:section>
        <p14:section name="Problem &amp; Solution" id="{43e3cd33-e354-e3b4-7688-d878858501f8}">
          <p14:sldIdLst>
            <p14:sldId id="257"/>
            <p14:sldId id="258"/>
            <p14:sldId id="259"/>
          </p14:sldIdLst>
        </p14:section>
        <p14:section name="Technology" id="{fee88d0e-8d84-f915-0ff5-e309443e62e5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Business" id="{687cf71d-f7b2-88d5-141b-1a745e2d57ae}">
          <p14:sldIdLst>
            <p14:sldId id="266"/>
            <p14:sldId id="267"/>
            <p14:sldId id="268"/>
          </p14:sldIdLst>
        </p14:section>
        <p14:section name="Appendix" id="{cfc5989b-64fa-ba10-bead-388e77ca8ab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One change at a time vs base (Year-3 EBITDA, ₹ lakh)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Year-3 EBITDA (₹ lakh)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Base</c:v>
                  </c:pt>
                  <c:pt idx="1">
                    <c:v>Onboarding +50%</c:v>
                  </c:pt>
                  <c:pt idx="2">
                    <c:v>AI cost x2</c:v>
                  </c:pt>
                  <c:pt idx="3">
                    <c:v>Acquisition -30%</c:v>
                  </c:pt>
                  <c:pt idx="4">
                    <c:v>Churn 5%</c:v>
                  </c:pt>
                  <c:pt idx="5">
                    <c:v>Price ₹30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</c:v>
                </c:pt>
                <c:pt idx="1">
                  <c:v>56</c:v>
                </c:pt>
                <c:pt idx="2">
                  <c:v>6</c:v>
                </c:pt>
                <c:pt idx="3">
                  <c:v>14</c:v>
                </c:pt>
                <c:pt idx="4">
                  <c:v>24</c:v>
                </c:pt>
                <c:pt idx="5">
                  <c:v>-35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name InstituteIQ is a working title; replace if you prefer. Fill team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one idea in 30 seconds. Likely Q: what is actually built? A: a synthetic-data notebook (IRT mastery, dropout, percentile range, parent report) and a live-formula financial model; web prototype planned for Round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official case guide, sections 2 and 6 (illustrative baselines). Likely Q: where is real evidence? A: guide figures are illustrative; the pilot measures real baselines.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the product is a decision loop, not a chart gallery. Example is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Q: what OMR accuracy do you get? A: not measured yet; the pilot will measure field accuracy and correction time. We do not claim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Q: why can't a competitor copy this? A: the asset is validated outcome-linked data and calibrated difficulty, not raw volume; and it only compounds with authorised, privacy-preserving use. Honest limit: network effects are bounded by privacy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Q: why IRT not DKT? A: few responses per student, interpretable, calibrates difficulty; DKT/BKT as upgrades when data allows. Likely Q: what are the numbers? A: synthetic held-out: topic recovery r=0.92, dropout AUC 0.89 on unseen institute, percentile MAE ~9 points. These are pipeline checks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student details are invented. Status: parent report is template-based in the notebook (English and Hindi); the LLM layer, RAG and checker are proposed design. Likely Q: how do you stop hallucination? A: LLM only phrases verified analytics, numbers checked against inputs, template fallback, human escalation.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Q: DPDP compliance for minors? A: we design for verifiable parental consent and purpose limitation but have not verified current rules; to be checked with official sources and counsel. Cost method: tokens x assumed price + compute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explicit: only the notebook exists. Round 2 plan: Streamlit app doing CSV upload to heatmap, at-risk list with reasons, percentile range and parent report, plus one visible failure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design: baseline measurement, intervention tracking, outcome evaluation, renewal decision. Likely Q: market size? A: bottom-up formula; counts to be sourced; we avoid unsupported TAM/SAM/SOM.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 never breaks even and needs about ₹3 crore cash: say so. Upside is aggressive. Guide numbers were tested, not copied: guide LTV/CAC ~10x vs our base 8.7x. Likely Q: will owners pay ₹40? A: unproven; pilot tests willingness to pay and measured retention uplift.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targets from results. Likely Q: what is first 90 days? A: Phase 1 plus one pilot institute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slide carries the required AI disclosure. Add team-specific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[Team Name] · The Data Moat · Nextute × Finance Club, IIT Patna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C857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7899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NEXTUTE EDTECH × FINANCE CLUB, IIT PATNA · CASE COMPETITION 2026 · CASE B: THE DATA MOAT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51560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InstituteIQ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89611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scattered coaching data into </a:t>
            </a:r>
            <a:pPr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student improvement</a:t>
            </a:r>
            <a:pPr indent="0" marL="0">
              <a:buNone/>
            </a:pPr>
            <a:r>
              <a:rPr lang="en-US" sz="260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an AI-powered Institute Intelligence Platform for India’s small and mid-sized coaching institutes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D3A66"/>
          </a:solidFill>
          <a:ln w="9525">
            <a:solidFill>
              <a:srgbClr val="1D3A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120640"/>
            <a:ext cx="31089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· Excel · Forms · WhatsApp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45720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D3A66"/>
          </a:solidFill>
          <a:ln w="9525">
            <a:solidFill>
              <a:srgbClr val="1D3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5120640"/>
            <a:ext cx="31089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· Early warning · Percentile range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0" y="45720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D3A66"/>
          </a:solidFill>
          <a:ln w="9525">
            <a:solidFill>
              <a:srgbClr val="1D3A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5120640"/>
            <a:ext cx="31089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· Parent reports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· [Member 1, Member 2, Member 3, Member 4 · Institute] · Round 1 (Online)   ·   Product name is a working title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C857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summary: from scattered records to action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30-SECOND 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107899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value proposition: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turn scattered coaching data into measurable student improvement. Outcomes are targets to be proven in a pilot, not proven results.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36850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1792" y="267004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Topic mastery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090672"/>
            <a:ext cx="3355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each student’s mastery of every syllabus topic, with uncertainty, so teachers act on weak topics early.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51960" y="2560320"/>
            <a:ext cx="36850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416552" y="267004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Early warning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416552" y="3090672"/>
            <a:ext cx="3355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students who may fall behind, drop out or delay fees, with explainable reasons and </a:t>
            </a:r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next steps.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46720" y="2560320"/>
            <a:ext cx="36850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11312" y="267004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Exam range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11312" y="3090672"/>
            <a:ext cx="3355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percentile </a:t>
            </a:r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 a single rank) and shows how wide the uncertainty really is.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4754880"/>
            <a:ext cx="36850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4818888"/>
            <a:ext cx="3383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166360"/>
            <a:ext cx="33832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OMR sheets, Excel, registers and WhatsApp, so insight arrives </a:t>
            </a:r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late</a:t>
            </a:r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251960" y="4754880"/>
            <a:ext cx="36850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434840" y="4818888"/>
            <a:ext cx="3383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and model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5166360"/>
            <a:ext cx="33832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/ mid-sized </a:t>
            </a:r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JEE/NEET</a:t>
            </a:r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institutes. Per-active-student </a:t>
            </a:r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Basic / Pro / Premium tiers (₹20–80 range to be tested).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6720" y="4754880"/>
            <a:ext cx="36850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0" y="4818888"/>
            <a:ext cx="3383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5166360"/>
            <a:ext cx="33832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</a:t>
            </a:r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real-world data</a:t>
            </a:r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adds topic-level analytics, and builds a </a:t>
            </a:r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privacy-conscious data moat</a:t>
            </a:r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data means insight arrives too late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PROBLEM · CUSTOMER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786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12064" y="1353312"/>
            <a:ext cx="2468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OMR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sheets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35808" y="1714500"/>
            <a:ext cx="32004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55848" y="1280160"/>
            <a:ext cx="25786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10712" y="1353312"/>
            <a:ext cx="2468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batch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34456" y="1714500"/>
            <a:ext cx="32004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54496" y="1280160"/>
            <a:ext cx="25786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09360" y="1353312"/>
            <a:ext cx="2468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and notices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33104" y="1714500"/>
            <a:ext cx="32004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53144" y="1280160"/>
            <a:ext cx="2578608" cy="868680"/>
          </a:xfrm>
          <a:prstGeom prst="roundRect">
            <a:avLst>
              <a:gd name="adj" fmla="val 8421"/>
            </a:avLst>
          </a:prstGeom>
          <a:solidFill>
            <a:srgbClr val="FDEBDD"/>
          </a:solidFill>
          <a:ln w="1587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08008" y="1353312"/>
            <a:ext cx="2468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208008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fact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27157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2468880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1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2468880"/>
            <a:ext cx="1554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topic weaknesses </a:t>
            </a:r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late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10128" y="2331720"/>
            <a:ext cx="27157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47288" y="2468880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47288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2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2468880"/>
            <a:ext cx="1554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493008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noticed </a:t>
            </a:r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scores or engagement fall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63056" y="2331720"/>
            <a:ext cx="27157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0216" y="2468880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0216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3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6803136" y="2468880"/>
            <a:ext cx="1554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345936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little beyond a </a:t>
            </a:r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list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015984" y="2331720"/>
            <a:ext cx="27157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53144" y="2468880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53144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4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9656064" y="2468880"/>
            <a:ext cx="1554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9198864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measure </a:t>
            </a:r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or teaching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effectiveness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" y="3840480"/>
            <a:ext cx="36850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21792" y="395020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621792" y="4370832"/>
            <a:ext cx="3355848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director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pays and cares about retention and fee collection.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251960" y="3840480"/>
            <a:ext cx="36850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4416552" y="395020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4416552" y="4370832"/>
            <a:ext cx="3355848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and admin staff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upload tests, review flags, plan remedial classes.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046720" y="3840480"/>
            <a:ext cx="36850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8211312" y="395020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8211312" y="4370832"/>
            <a:ext cx="3355848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parents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clear strengths, next steps, bilingual updates.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57200" y="544068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DEBDD"/>
          </a:solidFill>
          <a:ln w="952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640080" y="5486400"/>
            <a:ext cx="108813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segment (proposed):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small and mid-sized JEE/NEET institutes, starting in </a:t>
            </a:r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from the guide: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8–15% mid-session dropout or fee default, ~₹17.3 L fees lost a year at 400 students (12% × ₹36,000). Not verified field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every insight ends in an action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SOLUTION · USER JOURNEY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477409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12064" y="1353312"/>
            <a:ext cx="1367681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737360"/>
            <a:ext cx="1367681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OMR, CSV, Forms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34609" y="1851660"/>
            <a:ext cx="15544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90057" y="1280160"/>
            <a:ext cx="1477409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144921" y="1353312"/>
            <a:ext cx="1367681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validate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44921" y="1737360"/>
            <a:ext cx="1367681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IDs, duplicates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7466" y="1851660"/>
            <a:ext cx="15544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22914" y="1280160"/>
            <a:ext cx="1477409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777778" y="1353312"/>
            <a:ext cx="1367681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model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77778" y="1737360"/>
            <a:ext cx="1367681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00323" y="1851660"/>
            <a:ext cx="15544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55771" y="1280160"/>
            <a:ext cx="1477409" cy="1143000"/>
          </a:xfrm>
          <a:prstGeom prst="roundRect">
            <a:avLst>
              <a:gd name="adj" fmla="val 6400"/>
            </a:avLst>
          </a:prstGeom>
          <a:solidFill>
            <a:srgbClr val="FDEBDD"/>
          </a:solidFill>
          <a:ln w="1587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410635" y="1353312"/>
            <a:ext cx="1367681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analytics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10635" y="1737360"/>
            <a:ext cx="1367681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mastery, risk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33181" y="1851660"/>
            <a:ext cx="15544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88629" y="1280160"/>
            <a:ext cx="1477409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043493" y="1353312"/>
            <a:ext cx="1367681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43493" y="1737360"/>
            <a:ext cx="1367681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remedial, mentor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66038" y="1851660"/>
            <a:ext cx="15544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21486" y="1280160"/>
            <a:ext cx="1477409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76350" y="1353312"/>
            <a:ext cx="1367681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+ reports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676350" y="1737360"/>
            <a:ext cx="1367681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098895" y="1851660"/>
            <a:ext cx="15544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254343" y="1280160"/>
            <a:ext cx="1477409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309207" y="1353312"/>
            <a:ext cx="1367681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outcomes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309207" y="1737360"/>
            <a:ext cx="1367681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scores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2606040"/>
            <a:ext cx="27157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21792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" y="3200400"/>
            <a:ext cx="239572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batch comparison, at-risk count, retention.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" y="4114800"/>
            <a:ext cx="2395728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fee-plan and faculty decisions.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310128" y="2606040"/>
            <a:ext cx="27157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3474720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3474720" y="3200400"/>
            <a:ext cx="239572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topic heatmap, weak-topic groups.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3474720" y="4114800"/>
            <a:ext cx="2395728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remedial class, targeted practice.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63056" y="2606040"/>
            <a:ext cx="27157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327648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6327648" y="3200400"/>
            <a:ext cx="239572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strengths, personal plan.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327648" y="4114800"/>
            <a:ext cx="2395728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practise weak topics. No ranking.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015984" y="2606040"/>
            <a:ext cx="27157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9180576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900" dirty="0"/>
          </a:p>
        </p:txBody>
      </p:sp>
      <p:sp>
        <p:nvSpPr>
          <p:cNvPr id="45" name="Text 43"/>
          <p:cNvSpPr txBox="1"/>
          <p:nvPr/>
        </p:nvSpPr>
        <p:spPr>
          <a:xfrm>
            <a:off x="9180576" y="3200400"/>
            <a:ext cx="239572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weekly Hindi / English summary.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9180576" y="4114800"/>
            <a:ext cx="2395728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support routines; contact mentor.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57200" y="516636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5800" y="5212080"/>
            <a:ext cx="107899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→ action → outcome: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weak </a:t>
            </a:r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Motion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mastery → teacher assigns a remedial set → follow-up test shows whether mastery changed. Every alert carries a suggested action and its result is tracked.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Ingestion: messy sources in, trusted records out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TECH · DATA INGESTION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6657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12064" y="1353312"/>
            <a:ext cx="15560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737360"/>
            <a:ext cx="1556004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photo, CSV, Forms, chat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22932" y="1874520"/>
            <a:ext cx="256032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78964" y="1280160"/>
            <a:ext cx="16657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433828" y="1353312"/>
            <a:ext cx="15560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433828" y="1737360"/>
            <a:ext cx="1556004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/ OCR read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44696" y="1874520"/>
            <a:ext cx="256032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00728" y="1280160"/>
            <a:ext cx="16657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55592" y="1353312"/>
            <a:ext cx="15560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55592" y="1737360"/>
            <a:ext cx="1556004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lookup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66460" y="1874520"/>
            <a:ext cx="256032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22492" y="1280160"/>
            <a:ext cx="16657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77356" y="1353312"/>
            <a:ext cx="15560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77356" y="1737360"/>
            <a:ext cx="1556004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missing, duplicate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88224" y="1874520"/>
            <a:ext cx="256032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44256" y="1280160"/>
            <a:ext cx="1665732" cy="118872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587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99120" y="1353312"/>
            <a:ext cx="15560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99120" y="1737360"/>
            <a:ext cx="1556004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only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09988" y="1874520"/>
            <a:ext cx="256032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66020" y="1280160"/>
            <a:ext cx="16657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120884" y="1353312"/>
            <a:ext cx="15560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120884" y="1737360"/>
            <a:ext cx="1556004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database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651760"/>
            <a:ext cx="60350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failure cases and handling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6035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Blurry or rotated OMR photo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check, ask for re-capture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or faint marks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question, 1-tap teacher 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/ mismatched student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Fuzzy match, review 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or missing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Rules, never silently dropped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on device, retry on sync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6766560" y="2651760"/>
            <a:ext cx="49377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measure (targets set in pilot)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6766560" y="3017520"/>
            <a:ext cx="49651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6949440" y="3044952"/>
            <a:ext cx="466344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accuracy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field-level vs manual entry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766560" y="3767328"/>
            <a:ext cx="49651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6949440" y="3794760"/>
            <a:ext cx="466344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time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seconds per sheet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766560" y="4517136"/>
            <a:ext cx="49651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6949440" y="4544568"/>
            <a:ext cx="466344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effort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minutes per test uploaded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457200" y="576072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DDF0F1"/>
          </a:solidFill>
          <a:ln w="9525">
            <a:solidFill>
              <a:srgbClr val="0E7C8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640080" y="5788152"/>
            <a:ext cx="1088136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bandwidth: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installable web app (PWA), compressed uploads, resumable sync.   </a:t>
            </a:r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proposed design; OMR extraction not yet built.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and moat: outcomes make the data valuable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TECH · DATA MODEL · MOAT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40280" y="1673352"/>
            <a:ext cx="22860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251960" y="1673352"/>
            <a:ext cx="22860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372100" y="2057400"/>
            <a:ext cx="0" cy="32004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8740" y="2377440"/>
            <a:ext cx="402336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48740" y="2377440"/>
            <a:ext cx="0" cy="22860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60420" y="2377440"/>
            <a:ext cx="0" cy="22860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72100" y="2377440"/>
            <a:ext cx="0" cy="22860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128016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2920" y="133502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164592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tenant, city, plan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128016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514600" y="133502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164592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exam focus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128016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DDF0F1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26280" y="133502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164592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flag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02920" y="266090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297180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session, present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68880" y="26060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514600" y="266090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514600" y="297180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due, paid, amount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26060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526280" y="266090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297180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doubts, homework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40280" y="3931920"/>
            <a:ext cx="22860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251960" y="3931920"/>
            <a:ext cx="22860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7200" y="356616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02920" y="362102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topics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393192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/ NEET graph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68880" y="356616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2514600" y="362102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2514600" y="393192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difficulty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80560" y="356616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DDF0F1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4526280" y="362102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responses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526280" y="393192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correct, time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468880" y="45720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DEBDD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2514600" y="462686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(labels)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2514600" y="493776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dropout, percentile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372100" y="4343400"/>
            <a:ext cx="0" cy="22860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>
            <a:off x="4251960" y="4937760"/>
            <a:ext cx="112014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457200" y="5486400"/>
            <a:ext cx="59436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tenant_id on every row, row-level security. Keys: student_id, question_id.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720840" y="128016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DDF0F1"/>
          </a:solidFill>
          <a:ln w="9525">
            <a:solidFill>
              <a:srgbClr val="0E7C8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6766560" y="1280160"/>
            <a:ext cx="3291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institutes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412480" y="1847088"/>
            <a:ext cx="0" cy="210312"/>
          </a:xfrm>
          <a:prstGeom prst="line">
            <a:avLst/>
          </a:prstGeom>
          <a:noFill/>
          <a:ln w="2857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720840" y="205740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0E7C8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6766560" y="2057400"/>
            <a:ext cx="3291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validated learning data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412480" y="2624328"/>
            <a:ext cx="0" cy="210312"/>
          </a:xfrm>
          <a:prstGeom prst="line">
            <a:avLst/>
          </a:prstGeom>
          <a:noFill/>
          <a:ln w="2857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720840" y="283464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DDF0F1"/>
          </a:solidFill>
          <a:ln w="9525">
            <a:solidFill>
              <a:srgbClr val="0E7C8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6766560" y="2834640"/>
            <a:ext cx="3291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Better-calibrated models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412480" y="3401568"/>
            <a:ext cx="0" cy="210312"/>
          </a:xfrm>
          <a:prstGeom prst="line">
            <a:avLst/>
          </a:prstGeom>
          <a:noFill/>
          <a:ln w="2857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720840" y="361188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0E7C8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6766560" y="3611880"/>
            <a:ext cx="3291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useful interventions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8412480" y="4178808"/>
            <a:ext cx="0" cy="210312"/>
          </a:xfrm>
          <a:prstGeom prst="line">
            <a:avLst/>
          </a:prstGeom>
          <a:noFill/>
          <a:ln w="2857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6720840" y="438912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DDF0F1"/>
          </a:solidFill>
          <a:ln w="9525">
            <a:solidFill>
              <a:srgbClr val="0E7C8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 txBox="1"/>
          <p:nvPr/>
        </p:nvSpPr>
        <p:spPr>
          <a:xfrm>
            <a:off x="6766560" y="4389120"/>
            <a:ext cx="3291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value + retention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10104120" y="4672584"/>
            <a:ext cx="365760" cy="0"/>
          </a:xfrm>
          <a:prstGeom prst="line">
            <a:avLst/>
          </a:prstGeom>
          <a:noFill/>
          <a:ln w="28575">
            <a:solidFill>
              <a:srgbClr val="0E7C8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10469880" y="1563624"/>
            <a:ext cx="0" cy="2916936"/>
          </a:xfrm>
          <a:prstGeom prst="line">
            <a:avLst/>
          </a:prstGeom>
          <a:noFill/>
          <a:ln w="28575">
            <a:solidFill>
              <a:srgbClr val="0E7C8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H="1">
            <a:off x="10104120" y="1563624"/>
            <a:ext cx="365760" cy="0"/>
          </a:xfrm>
          <a:prstGeom prst="line">
            <a:avLst/>
          </a:prstGeom>
          <a:noFill/>
          <a:ln w="2857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1056132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720840" y="5349240"/>
            <a:ext cx="5010912" cy="960120"/>
          </a:xfrm>
          <a:prstGeom prst="roundRect">
            <a:avLst>
              <a:gd name="adj" fmla="val 7619"/>
            </a:avLst>
          </a:prstGeom>
          <a:solidFill>
            <a:srgbClr val="FDEBDD"/>
          </a:solidFill>
          <a:ln w="952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 txBox="1"/>
          <p:nvPr/>
        </p:nvSpPr>
        <p:spPr>
          <a:xfrm>
            <a:off x="6858000" y="5376672"/>
            <a:ext cx="47548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alone is not a moat.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needs longitudinal outcomes, consistent topic tags, data quality, calibration and proven interventions. Cross-institute learning uses </a:t>
            </a:r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authorised, anonymised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aggregates only.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approach: simple baselines first, validated honestly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TECH · MACHINE LEARNING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2926080"/>
                <a:gridCol w="2926080"/>
                <a:gridCol w="1399032"/>
              </a:tblGrid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(baseline → upgrade)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 →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and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mastery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IRT-based mastery with shrinkage; BKT as sequential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Responses, topic tags → mastery per topic + error bar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response log-loss and calibration vs overall-score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on synthetic data (IRT); BKT proposed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difficulty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Rasch (1PL) → 2PL IRT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students’ responses → difficulty and 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on synthetic data; stability across batches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(synthetic)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/ falling behind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→ gradient boosting; survival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1–3 attendance, fee delay, doubts, homework, score trend → risk + reasons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PR-AUC, recall at top 20%, calibration; baseline: attendance-only rule; test on an unseen institute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+ GBM built (synthetic); survival proposed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percentile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Quantile boosting + conformal calibration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Scores, mastery, engagement → 90%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and interval coverage vs mean-of-past-tests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(synthetic)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→ topic tag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map + LLM suggestion + teacher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text, NTA syllabus → 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 with teacher labels; share needing correction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FDEBDD"/>
          </a:solidFill>
          <a:ln w="952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5641848"/>
            <a:ext cx="1088136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results are on </a:t>
            </a:r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whose labels come from a known process, so they show the pipeline works, </a:t>
            </a:r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real-world accuracy. Real labels (dropout, fee default, exam percentile) need a consented pilot.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Predictions, validation and GenAI: an illustrative student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TECH · PREDICTIONS · GENAI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344168"/>
            <a:ext cx="51206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student (invented, not real data)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883664"/>
            <a:ext cx="2926080" cy="237744"/>
          </a:xfrm>
          <a:prstGeom prst="rect">
            <a:avLst>
              <a:gd name="adj" fmla="val 30769"/>
            </a:avLst>
          </a:prstGeom>
          <a:solidFill>
            <a:srgbClr val="E3E8F0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883664"/>
            <a:ext cx="2282342" cy="237744"/>
          </a:xfrm>
          <a:prstGeom prst="rect">
            <a:avLst>
              <a:gd name="adj" fmla="val 30769"/>
            </a:avLst>
          </a:prstGeom>
          <a:solidFill>
            <a:srgbClr val="0E7C86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57800" y="1828800"/>
            <a:ext cx="640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86000"/>
            <a:ext cx="1645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2340864"/>
            <a:ext cx="2926080" cy="237744"/>
          </a:xfrm>
          <a:prstGeom prst="rect">
            <a:avLst>
              <a:gd name="adj" fmla="val 30769"/>
            </a:avLst>
          </a:prstGeom>
          <a:solidFill>
            <a:srgbClr val="E3E8F0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2340864"/>
            <a:ext cx="1872691" cy="237744"/>
          </a:xfrm>
          <a:prstGeom prst="rect">
            <a:avLst>
              <a:gd name="adj" fmla="val 30769"/>
            </a:avLst>
          </a:prstGeom>
          <a:solidFill>
            <a:srgbClr val="0E7C86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57800" y="2286000"/>
            <a:ext cx="640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(GOC)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2798064"/>
            <a:ext cx="2926080" cy="237744"/>
          </a:xfrm>
          <a:prstGeom prst="rect">
            <a:avLst>
              <a:gd name="adj" fmla="val 30769"/>
            </a:avLst>
          </a:prstGeom>
          <a:solidFill>
            <a:srgbClr val="E3E8F0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798064"/>
            <a:ext cx="1609344" cy="237744"/>
          </a:xfrm>
          <a:prstGeom prst="rect">
            <a:avLst>
              <a:gd name="adj" fmla="val 30769"/>
            </a:avLst>
          </a:prstGeom>
          <a:solidFill>
            <a:srgbClr val="0E7C86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57800" y="2743200"/>
            <a:ext cx="640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200400"/>
            <a:ext cx="1645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Electrostatics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3255264"/>
            <a:ext cx="2926080" cy="237744"/>
          </a:xfrm>
          <a:prstGeom prst="rect">
            <a:avLst>
              <a:gd name="adj" fmla="val 30769"/>
            </a:avLst>
          </a:prstGeom>
          <a:solidFill>
            <a:srgbClr val="E3E8F0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3255264"/>
            <a:ext cx="1199693" cy="237744"/>
          </a:xfrm>
          <a:prstGeom prst="rect">
            <a:avLst>
              <a:gd name="adj" fmla="val 30769"/>
            </a:avLst>
          </a:prstGeom>
          <a:solidFill>
            <a:srgbClr val="C2410C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57800" y="3200400"/>
            <a:ext cx="640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57600"/>
            <a:ext cx="1645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Motion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0" y="3712464"/>
            <a:ext cx="2926080" cy="237744"/>
          </a:xfrm>
          <a:prstGeom prst="rect">
            <a:avLst>
              <a:gd name="adj" fmla="val 30769"/>
            </a:avLst>
          </a:prstGeom>
          <a:solidFill>
            <a:srgbClr val="E3E8F0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712464"/>
            <a:ext cx="936346" cy="237744"/>
          </a:xfrm>
          <a:prstGeom prst="rect">
            <a:avLst>
              <a:gd name="adj" fmla="val 30769"/>
            </a:avLst>
          </a:prstGeom>
          <a:solidFill>
            <a:srgbClr val="C2410C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57800" y="3657600"/>
            <a:ext cx="640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DEBDD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206240"/>
            <a:ext cx="5029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Elevated-risk signal:</a:t>
            </a:r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attendance down 18 pts, fee 9 days late, homework 40%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93776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DDF0F1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937760"/>
            <a:ext cx="50292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mentor call + remedial set on Rotational Motion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57784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DDF0F1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577840"/>
            <a:ext cx="50292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percentile:</a:t>
            </a:r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68–91 (90% range, month 3, wide)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126480" y="1280160"/>
            <a:ext cx="5577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parent report (illustrative)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126480" y="16459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217920" y="1691640"/>
            <a:ext cx="25603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Calculus, Algebra. Practise more: Rotational Motion. Attendance 82%. The teacher will share a short practice plan.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88552" y="16459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079992" y="1691640"/>
            <a:ext cx="25603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मज़बूत विषय: कैलकुलस, बीजगणित। अधिक अभ्यास: घूर्णी गति। उपस्थिति 82%। शिक्षक एक छोटी अभ्यास-योजना साझा करेंगे।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126480" y="3017520"/>
            <a:ext cx="5577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3383280"/>
          <a:ext cx="56052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23367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precision, recall, PR-AUC, calibration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prediction, calibration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MAE, interval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factual accuracy, groundedness, cost per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6126480" y="5212080"/>
            <a:ext cx="125044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181344" y="5285232"/>
            <a:ext cx="114071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+ facts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6181344" y="5669280"/>
            <a:ext cx="114071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inputs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376922" y="5760720"/>
            <a:ext cx="20116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7578090" y="5212080"/>
            <a:ext cx="125044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7632954" y="5285232"/>
            <a:ext cx="114071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632954" y="5669280"/>
            <a:ext cx="114071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text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8828532" y="5760720"/>
            <a:ext cx="20116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9029700" y="5212080"/>
            <a:ext cx="1250442" cy="1097280"/>
          </a:xfrm>
          <a:prstGeom prst="roundRect">
            <a:avLst>
              <a:gd name="adj" fmla="val 6667"/>
            </a:avLst>
          </a:prstGeom>
          <a:solidFill>
            <a:srgbClr val="FDEBDD"/>
          </a:solidFill>
          <a:ln w="1587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9084564" y="5285232"/>
            <a:ext cx="114071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9084564" y="5669280"/>
            <a:ext cx="114071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banned words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10280142" y="5760720"/>
            <a:ext cx="20116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10481310" y="5212080"/>
            <a:ext cx="125044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2" name="Text 49"/>
          <p:cNvSpPr txBox="1"/>
          <p:nvPr/>
        </p:nvSpPr>
        <p:spPr>
          <a:xfrm>
            <a:off x="10536174" y="5285232"/>
            <a:ext cx="114071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10536174" y="5669280"/>
            <a:ext cx="114071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unsure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privacy and safety by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TECH · ARCHITECTURE · PRIVACY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6504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12064" y="1353312"/>
            <a:ext cx="154076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737360"/>
            <a:ext cx="154076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PWA, offline queue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7692" y="1828800"/>
            <a:ext cx="27432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82012" y="1280160"/>
            <a:ext cx="16504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436876" y="1353312"/>
            <a:ext cx="154076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backend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436876" y="1737360"/>
            <a:ext cx="154076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auth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32504" y="1828800"/>
            <a:ext cx="27432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06824" y="1280160"/>
            <a:ext cx="16504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61688" y="1353312"/>
            <a:ext cx="154076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61688" y="1737360"/>
            <a:ext cx="154076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parse, validate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57316" y="1828800"/>
            <a:ext cx="27432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31636" y="1280160"/>
            <a:ext cx="1650492" cy="1097280"/>
          </a:xfrm>
          <a:prstGeom prst="roundRect">
            <a:avLst>
              <a:gd name="adj" fmla="val 6667"/>
            </a:avLst>
          </a:prstGeom>
          <a:solidFill>
            <a:srgbClr val="FDEBDD"/>
          </a:solidFill>
          <a:ln w="1587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86500" y="1353312"/>
            <a:ext cx="154076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database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86500" y="1737360"/>
            <a:ext cx="154076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RLS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82128" y="1828800"/>
            <a:ext cx="27432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56448" y="1280160"/>
            <a:ext cx="16504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11312" y="1353312"/>
            <a:ext cx="154076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11312" y="1737360"/>
            <a:ext cx="154076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06940" y="1828800"/>
            <a:ext cx="27432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81260" y="1280160"/>
            <a:ext cx="16504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136124" y="1353312"/>
            <a:ext cx="154076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+ reports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136124" y="1737360"/>
            <a:ext cx="154076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roles, WhatsApp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560320"/>
            <a:ext cx="2715768" cy="411480"/>
          </a:xfrm>
          <a:prstGeom prst="roundRect">
            <a:avLst>
              <a:gd name="adj" fmla="val 17778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2560320"/>
            <a:ext cx="262432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10128" y="2560320"/>
            <a:ext cx="2715768" cy="411480"/>
          </a:xfrm>
          <a:prstGeom prst="roundRect">
            <a:avLst>
              <a:gd name="adj" fmla="val 17778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55848" y="2560320"/>
            <a:ext cx="262432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isolation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63056" y="2560320"/>
            <a:ext cx="2715768" cy="411480"/>
          </a:xfrm>
          <a:prstGeom prst="roundRect">
            <a:avLst>
              <a:gd name="adj" fmla="val 17778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08776" y="2560320"/>
            <a:ext cx="262432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 + at rest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15984" y="2560320"/>
            <a:ext cx="2715768" cy="411480"/>
          </a:xfrm>
          <a:prstGeom prst="roundRect">
            <a:avLst>
              <a:gd name="adj" fmla="val 17778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61704" y="2560320"/>
            <a:ext cx="262432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063240"/>
            <a:ext cx="2715768" cy="411480"/>
          </a:xfrm>
          <a:prstGeom prst="roundRect">
            <a:avLst>
              <a:gd name="adj" fmla="val 17778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2920" y="3063240"/>
            <a:ext cx="262432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+ recovery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10128" y="3063240"/>
            <a:ext cx="2715768" cy="411480"/>
          </a:xfrm>
          <a:prstGeom prst="roundRect">
            <a:avLst>
              <a:gd name="adj" fmla="val 17778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355848" y="3063240"/>
            <a:ext cx="262432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+ deletion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63056" y="3063240"/>
            <a:ext cx="2715768" cy="411480"/>
          </a:xfrm>
          <a:prstGeom prst="roundRect">
            <a:avLst>
              <a:gd name="adj" fmla="val 17778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08776" y="3063240"/>
            <a:ext cx="262432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sync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015984" y="3063240"/>
            <a:ext cx="2715768" cy="411480"/>
          </a:xfrm>
          <a:prstGeom prst="roundRect">
            <a:avLst>
              <a:gd name="adj" fmla="val 17778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061704" y="3063240"/>
            <a:ext cx="262432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+ error handling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3657600"/>
            <a:ext cx="368503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621792" y="376732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data and law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621792" y="4187952"/>
            <a:ext cx="3355848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are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minors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parental consent, purpose limits, no profiling for ads. Applicable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and Rules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be verified against official sources and legal advice;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compliance claim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made.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251960" y="3657600"/>
            <a:ext cx="368503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4416552" y="376732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interventions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4416552" y="4187952"/>
            <a:ext cx="3355848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 reach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only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trigger support (call, remedial help, fee plan).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public rankings, shaming or punitive use. The institute owns its data; secondary use only when authorised and anonymised.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046720" y="3657600"/>
            <a:ext cx="368503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8211312" y="376732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student per month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8211312" y="4187952"/>
            <a:ext cx="3355848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(estimate): LLM ₹0.31 (4 reports × ~1,900 tokens), compute and storage ₹2.0, WhatsApp ₹1.12. Prices are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model uses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buffer.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status: what exists today and what is planned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TECH · PROTOTYPE · DEMO</a:t>
            </a:r>
            <a:endParaRPr lang="en-US" sz="1100" dirty="0"/>
          </a:p>
        </p:txBody>
      </p:sp>
      <p:pic>
        <p:nvPicPr>
          <p:cNvPr id="4" name="Image 0" descr="/home/claude/nb/data/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394960" cy="41970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532120"/>
            <a:ext cx="53949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of our notebook on synthetic data (a plot, not a web app).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280160"/>
          <a:ext cx="565099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3649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Upload sample 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reads generated CSV; Streamlit upload planned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Extracted + validated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(Round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Topic-mastery heatmap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(left, synthetic)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At-risk alert with reasons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 notebook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Exam prediction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 notebook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Parent report (EN / HI)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as template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case (missing 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Designed: review queue; not yet demonstrated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080760" y="5074920"/>
            <a:ext cx="5650992" cy="1234440"/>
          </a:xfrm>
          <a:prstGeom prst="roundRect">
            <a:avLst>
              <a:gd name="adj" fmla="val 5926"/>
            </a:avLst>
          </a:prstGeom>
          <a:solidFill>
            <a:srgbClr val="DDF0F1"/>
          </a:solidFill>
          <a:ln w="9525">
            <a:solidFill>
              <a:srgbClr val="0E7C8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217920" y="5120640"/>
            <a:ext cx="53949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stack: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Streamlit front end, FastAPI, PostgreSQL, scikit-learn, OpenCV / Tesseract, LLM API for controlled reports. Chosen for what a small team can finish.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5989320"/>
            <a:ext cx="5394960" cy="365760"/>
          </a:xfrm>
          <a:prstGeom prst="roundRect">
            <a:avLst>
              <a:gd name="adj" fmla="val 20000"/>
            </a:avLst>
          </a:prstGeom>
          <a:solidFill>
            <a:srgbClr val="FDEBDD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6007608"/>
            <a:ext cx="52120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screenshots yet; none are faked.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and go-to-market: win a focused segment first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BUSINESS · MARKET · GTM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249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23957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10512"/>
            <a:ext cx="239572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/ mid-sized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JEE/NEET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institutes, 300–800 students (guide range 150–2,000).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7249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56432" y="1389888"/>
            <a:ext cx="23957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810512"/>
            <a:ext cx="239572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(proposed: IIT Patna network, tier-2 demand), then Lucknow, Jaipur, Indore.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27249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" y="2852928"/>
            <a:ext cx="23957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273552"/>
            <a:ext cx="239572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director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decides; teachers influence. Sales cycle 3–8 weeks, peak March–June (guide).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743200"/>
            <a:ext cx="27249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456432" y="2852928"/>
            <a:ext cx="23957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273552"/>
            <a:ext cx="239572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demos,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Nextute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customers as warm leads, channel partners; CAC ₹15–30k assumed.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280160"/>
          <a:ext cx="546811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097280"/>
                <a:gridCol w="117043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/ Excel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ERP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InstituteIQ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OMR + WhatsApp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Topic-level analytics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Early-warning + 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Authorised benchmarking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263640" y="3840480"/>
            <a:ext cx="54681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capabilities are our assessment and need verification.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251960"/>
            <a:ext cx="5669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market sizing (no invented TAM)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in target cities × avg students × ₹ price × 12. </a:t>
            </a:r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counts to be sourced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official or industry data.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4983480"/>
            <a:ext cx="261289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12064" y="5056632"/>
            <a:ext cx="250317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Baseline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12064" y="5440680"/>
            <a:ext cx="250317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dropout, fee delay, test data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70098" y="5646420"/>
            <a:ext cx="27432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344418" y="4983480"/>
            <a:ext cx="2612898" cy="1325880"/>
          </a:xfrm>
          <a:prstGeom prst="roundRect">
            <a:avLst>
              <a:gd name="adj" fmla="val 5517"/>
            </a:avLst>
          </a:prstGeom>
          <a:solidFill>
            <a:srgbClr val="FDEBDD"/>
          </a:solidFill>
          <a:ln w="1587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3399282" y="5056632"/>
            <a:ext cx="250317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Intervene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399282" y="5440680"/>
            <a:ext cx="250317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→ actions tracked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957316" y="5646420"/>
            <a:ext cx="27432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231636" y="4983480"/>
            <a:ext cx="261289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6286500" y="5056632"/>
            <a:ext cx="250317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Evaluate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286500" y="5440680"/>
            <a:ext cx="250317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 / control batch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844534" y="5646420"/>
            <a:ext cx="27432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9118854" y="4983480"/>
            <a:ext cx="261289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9173718" y="5056632"/>
            <a:ext cx="250317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Renew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9173718" y="5440680"/>
            <a:ext cx="250317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on measured value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economics: attractive only if price and churn hold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BUSINESS · PRICING · FINANCE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8521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  <a:gridCol w="1188720"/>
                <a:gridCol w="10972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/ billed student /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× billed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× 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× 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× 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churn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institutes / mo (Y1–Y3)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6 ·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12 ·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· 20 · 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Year-3 revenue (₹ lakh)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Year-3 EBITDA (₹ lakh)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payback (months)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 / CAC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36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492240" y="1280160"/>
          <a:ext cx="5239512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577840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594360" y="5605272"/>
            <a:ext cx="557784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revenue − infra − support.  </a:t>
            </a:r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(CAC + onboarding) ÷ contribution.  </a:t>
            </a:r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contribution ÷ churn.  Base contribution ₹8,560 / institute / month.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92240" y="5029200"/>
            <a:ext cx="5239512" cy="1280160"/>
          </a:xfrm>
          <a:prstGeom prst="roundRect">
            <a:avLst>
              <a:gd name="adj" fmla="val 5714"/>
            </a:avLst>
          </a:prstGeom>
          <a:solidFill>
            <a:srgbClr val="FDEBDD"/>
          </a:solidFill>
          <a:ln w="952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629400" y="5056632"/>
            <a:ext cx="50292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improvement tested on customer ROI: </a:t>
            </a:r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9%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dropouts prevented; base 15%, guide 25%. Slow acquisition and </a:t>
            </a:r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₹30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hurt most. Ties to </a:t>
            </a:r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DataMoat_Financial_Model.xlsx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and impact: prove value in stages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BUSINESS · ROADMAP · CONCLUSION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15768" cy="33832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89888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+ validation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11680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Upload, clean, review queue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70048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Sample sheets, templates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3328416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metric: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Error rate, staff minutes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986784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Messy inputs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10128" y="1280160"/>
            <a:ext cx="2715768" cy="33832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47288" y="1389888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47288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2</a:t>
            </a:r>
            <a:endParaRPr lang="en-US" sz="126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+ teacher view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011680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IRT mastery, heatmap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670048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Tagged question bank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328416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metric: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Teacher time saved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3986784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Tagging quality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63056" y="1280160"/>
            <a:ext cx="2715768" cy="33832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0216" y="1389888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0216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3</a:t>
            </a:r>
            <a:endParaRPr lang="en-US" sz="1260" dirty="0"/>
          </a:p>
        </p:txBody>
      </p:sp>
      <p:sp>
        <p:nvSpPr>
          <p:cNvPr id="23" name="Text 21"/>
          <p:cNvSpPr txBox="1"/>
          <p:nvPr/>
        </p:nvSpPr>
        <p:spPr>
          <a:xfrm>
            <a:off x="6803136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+ range + actions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327648" y="2011680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Risk, tracking, percentile range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27648" y="2670048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Outcome labels from a pilot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27648" y="3328416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metric: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Calibration, follow-through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27648" y="3986784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Small samples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015984" y="1280160"/>
            <a:ext cx="2715768" cy="33832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53144" y="1389888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53144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4</a:t>
            </a:r>
            <a:endParaRPr lang="en-US" sz="1260" dirty="0"/>
          </a:p>
        </p:txBody>
      </p:sp>
      <p:sp>
        <p:nvSpPr>
          <p:cNvPr id="31" name="Text 29"/>
          <p:cNvSpPr txBox="1"/>
          <p:nvPr/>
        </p:nvSpPr>
        <p:spPr>
          <a:xfrm>
            <a:off x="9656064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Multi-institute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180576" y="2011680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Benchmarks, tiers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180576" y="2670048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Consent + legal review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180576" y="3328416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metric: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Retention, renewals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180576" y="3986784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Privacy limits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800600"/>
            <a:ext cx="10972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metrics (targets are proposals; none measured yet)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57200" y="5166360"/>
            <a:ext cx="1801368" cy="457200"/>
          </a:xfrm>
          <a:prstGeom prst="roundRect">
            <a:avLst>
              <a:gd name="adj" fmla="val 16000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02920" y="5166360"/>
            <a:ext cx="170992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error rate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350008" y="5166360"/>
            <a:ext cx="1801368" cy="457200"/>
          </a:xfrm>
          <a:prstGeom prst="roundRect">
            <a:avLst>
              <a:gd name="adj" fmla="val 16000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395728" y="5166360"/>
            <a:ext cx="170992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time saved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42816" y="5166360"/>
            <a:ext cx="1801368" cy="457200"/>
          </a:xfrm>
          <a:prstGeom prst="roundRect">
            <a:avLst>
              <a:gd name="adj" fmla="val 16000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288536" y="5166360"/>
            <a:ext cx="170992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Follow-through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35624" y="5166360"/>
            <a:ext cx="1801368" cy="457200"/>
          </a:xfrm>
          <a:prstGeom prst="roundRect">
            <a:avLst>
              <a:gd name="adj" fmla="val 16000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81344" y="5166360"/>
            <a:ext cx="170992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calibration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028432" y="5166360"/>
            <a:ext cx="1801368" cy="457200"/>
          </a:xfrm>
          <a:prstGeom prst="roundRect">
            <a:avLst>
              <a:gd name="adj" fmla="val 16000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74152" y="5166360"/>
            <a:ext cx="170992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retention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921240" y="5166360"/>
            <a:ext cx="1801368" cy="457200"/>
          </a:xfrm>
          <a:prstGeom prst="roundRect">
            <a:avLst>
              <a:gd name="adj" fmla="val 16000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966960" y="5166360"/>
            <a:ext cx="170992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renewal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576072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0080" y="5788152"/>
            <a:ext cx="108813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better learning operations, measurable institute value, and a data moat that grows with validated, authorised outcomes.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evidence, assumptions and limitations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850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(verify license and use)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10512"/>
            <a:ext cx="3355848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EdNet (github.com/riiid/ednet); ASSISTments data; OULAD (Open University); UCI Student Performance; xAPI-Edu-Data; NTA JEE/NEET syllabus. Not used to train the notebook; reserved for future benchmarking. Research: Rasch IRT, BKT (Corbett and Anderson 1995), conformalized quantile regression (Romano et al. 2019).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280160"/>
            <a:ext cx="36850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16552" y="138988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16552" y="1810512"/>
            <a:ext cx="3355848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institutes, 1,200 students, 8 months, 16 tests × 20 questions, 12 topics, 300 questions, 2PL with guessing 0.10. ~12% dropout from a hidden disengagement factor. Shorter than the guide’s full year.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280160"/>
            <a:ext cx="36850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11312" y="138988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and labels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11312" y="1810512"/>
            <a:ext cx="3355848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1–3: attendance rate and trend, fee delay, doubts, homework, score mean and trend. Labels: dropped_out_flag, final_mock_percentile (synthetic).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36850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" y="358444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4005072"/>
            <a:ext cx="3355848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 train on 2 institutes, test on the third. Percentile: 60/20/20 split, conformal calibration. Results are pipeline checks (AUC 0.89, MAE ~9 pts), not real-world.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51960" y="3474720"/>
            <a:ext cx="36850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416552" y="358444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assumptions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16552" y="4005072"/>
            <a:ext cx="3355848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₹40/student/mo, 85% billed, 3% churn, CAC ₹25k + onboarding ₹8k, infra ₹6, support ₹3k, fixed opex ₹4.5–9 L/mo, constant adds per year, no seasonality.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474720"/>
            <a:ext cx="36850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11312" y="358444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11312" y="4005072"/>
            <a:ext cx="3355848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labels; no real OMR or LLM built; interval width ~50 points; competitor and law points unverified; market counts unsourced; no pilot evidence.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571500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5742432"/>
            <a:ext cx="1088136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AI-use disclosure: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Claude (Anthropic) helped with code scaffolding, the financial-model structure and slide drafting. The team reviewed everything and can explain every part.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Moat">
  <a:themeElements>
    <a:clrScheme name="DataMoat">
      <a:dk1>
        <a:srgbClr val="14213D"/>
      </a:dk1>
      <a:lt1>
        <a:srgbClr val="FFFFFF"/>
      </a:lt1>
      <a:dk2>
        <a:srgbClr val="0B1F3A"/>
      </a:dk2>
      <a:lt2>
        <a:srgbClr val="F2F5F9"/>
      </a:lt2>
      <a:accent1>
        <a:srgbClr val="0E7C86"/>
      </a:accent1>
      <a:accent2>
        <a:srgbClr val="C2410C"/>
      </a:accent2>
      <a:accent3>
        <a:srgbClr val="1D3A66"/>
      </a:accent3>
      <a:accent4>
        <a:srgbClr val="2E7D32"/>
      </a:accent4>
      <a:accent5>
        <a:srgbClr val="FFC857"/>
      </a:accent5>
      <a:accent6>
        <a:srgbClr val="55627A"/>
      </a:accent6>
      <a:hlink>
        <a:srgbClr val="0E7C86"/>
      </a:hlink>
      <a:folHlink>
        <a:srgbClr val="55627A"/>
      </a:folHlink>
    </a:clrScheme>
    <a:fontScheme name="DataMoa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Data Moat – Institute Intelligence Platform</dc:title>
  <dc:subject>PptxGenJS Presentation</dc:subject>
  <dc:creator>PptxGenJS</dc:creator>
  <cp:lastModifiedBy>PptxGenJS</cp:lastModifiedBy>
  <cp:revision>1</cp:revision>
  <dcterms:created xsi:type="dcterms:W3CDTF">2026-10-20T08:01:17Z</dcterms:created>
  <dcterms:modified xsi:type="dcterms:W3CDTF">2026-10-20T08:01:17Z</dcterms:modified>
</cp:coreProperties>
</file>